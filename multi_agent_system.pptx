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2" r:id="rId12"/>
    <p:sldId id="256" r:id="rId2"/>
    <p:sldId id="257" r:id="rId3"/>
    <p:sldId id="260" r:id="rId4"/>
    <p:sldId id="261" r:id="rId5"/>
    <p:sldId id="259" r:id="rId6"/>
    <p:sldId id="26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10"/>
  </p:normalViewPr>
  <p:slideViewPr>
    <p:cSldViewPr snapToGrid="0" snapToObjects="1">
      <p:cViewPr varScale="1">
        <p:scale>
          <a:sx n="143" d="100"/>
          <a:sy n="143" d="100"/>
        </p:scale>
        <p:origin x="69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1.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2934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problem, not the technology.
Key point: the model was already being built. The insight already existed. The problem was that between the insight and the action, there were days of emails, custom queries, and back-and-forth.
This system removes that friction. The model stays the same. The approval process stays the same. What changes is that any team can query the model directly in plain English.
Pause on the bottom bar: 2 weeks to 30 seconds is the number that lands with a VP.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comes AFTER the demo.
Walk through top to bottom:
① The analyst types a question. No training needed. Any team can use it.
② The reasoning agent is the only AI piece. It reads the question, decides which functions to call, calls them, and writes a plain-English answer. It never makes up numbers.
③ The ML pipeline is deterministic Python. Same input, same output, every time. The model trains once at startup. Every question is answered from that same trained model.
Key message: the AI only sits at the boundary between the human and the data. Everything behind it is reliable, auditable, deterministic code.
If someone asks about MRM or model risk: the Random Forest is the approved model. The AI layer does not touch the predictions. It only reads them and explains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InsightAgent is safe: only aggregated stats go to GPT.
The reasoning agent is where the risk is: when someone asks who to call, individual customer attributes go to GPT. No name, no SSN. But still row-level data.
The fix is one line of code: swap ChatOpenAI for a locally hosted model. Data stays on your server. No vendor risk assessment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DATABASE:
Lead with the before/after. The before example is relatable: everyone who has used ChatGPT knows it forgets the previous conversation. Same problem here.
The vector database stores mathematical representations of past conversations and outcomes. Not the raw text. Not customer data. Just summaries and results.
WHAT COMES NEXT:
01: REPL tool - next weekend, fixes the analytical depth gap
02: Local LLM - resolves the compliance concern with one line change
03: Vector database - adds memory, system gets smarter over time
04: Automated outreach - end state where model drives retention action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B66"/>
        </a:solidFill>
        <a:effectLst/>
      </p:bgPr>
    </p:bg>
    <p:spTree>
      <p:nvGrpSpPr>
        <p:cNvPr id="1" name=""/>
        <p:cNvGrpSpPr/>
        <p:nvPr/>
      </p:nvGrpSpPr>
      <p:sp>
        <p:nvSpPr>
          <p:cNvPr id="2" name="Text 0"/>
          <p:cNvSpPr/>
          <p:nvPr/>
        </p:nvSpPr>
        <p:spPr>
          <a:xfrm>
            <a:off x="274320" y="182880"/>
            <a:ext cx="1371600" cy="1371600"/>
          </a:xfrm>
          <a:prstGeom prst="rect">
            <a:avLst/>
          </a:prstGeom>
          <a:noFill/>
          <a:ln/>
        </p:spPr>
        <p:txBody>
          <a:bodyPr wrap="square" lIns="0" tIns="0" rIns="0" bIns="0" rtlCol="0" anchor="ctr"/>
          <a:lstStyle/>
          <a:p>
            <a:pPr indent="0" marL="0">
              <a:buNone/>
            </a:pPr>
            <a:r>
              <a:rPr lang="en-US" sz="12000" b="1" dirty="0">
                <a:solidFill>
                  <a:srgbClr val="1A5276"/>
                </a:solidFill>
              </a:rPr>
              <a:t>“</a:t>
            </a:r>
            <a:endParaRPr lang="en-US" sz="12000" dirty="0"/>
          </a:p>
        </p:txBody>
      </p:sp>
      <p:sp>
        <p:nvSpPr>
          <p:cNvPr id="3" name="Text 1"/>
          <p:cNvSpPr/>
          <p:nvPr/>
        </p:nvSpPr>
        <p:spPr>
          <a:xfrm>
            <a:off x="457200" y="640080"/>
            <a:ext cx="8229600" cy="1005840"/>
          </a:xfrm>
          <a:prstGeom prst="rect">
            <a:avLst/>
          </a:prstGeom>
          <a:noFill/>
          <a:ln/>
        </p:spPr>
        <p:txBody>
          <a:bodyPr wrap="square" lIns="0" tIns="0" rIns="0" bIns="0" rtlCol="0" anchor="ctr"/>
          <a:lstStyle/>
          <a:p>
            <a:pPr indent="0" marL="0">
              <a:buNone/>
            </a:pPr>
            <a:r>
              <a:rPr lang="en-US" sz="2600" b="1" dirty="0">
                <a:solidFill>
                  <a:srgbClr val="FFFFFF"/>
                </a:solidFill>
              </a:rPr>
              <a:t>Everyone on LinkedIn is talking about</a:t>
            </a:r>
            <a:endParaRPr lang="en-US" sz="2600" dirty="0"/>
          </a:p>
          <a:p>
            <a:pPr indent="0" marL="0">
              <a:buNone/>
            </a:pPr>
            <a:r>
              <a:rPr lang="en-US" sz="2600" b="1" dirty="0">
                <a:solidFill>
                  <a:srgbClr val="FFFFFF"/>
                </a:solidFill>
              </a:rPr>
              <a:t>AI Agents and Multi-Agent Systems.</a:t>
            </a:r>
            <a:endParaRPr lang="en-US" sz="2600" dirty="0"/>
          </a:p>
        </p:txBody>
      </p:sp>
      <p:sp>
        <p:nvSpPr>
          <p:cNvPr id="4" name="Text 2"/>
          <p:cNvSpPr/>
          <p:nvPr/>
        </p:nvSpPr>
        <p:spPr>
          <a:xfrm>
            <a:off x="457200" y="1691640"/>
            <a:ext cx="8229600" cy="548640"/>
          </a:xfrm>
          <a:prstGeom prst="rect">
            <a:avLst/>
          </a:prstGeom>
          <a:noFill/>
          <a:ln/>
        </p:spPr>
        <p:txBody>
          <a:bodyPr wrap="square" lIns="0" tIns="0" rIns="0" bIns="0" rtlCol="0" anchor="ctr"/>
          <a:lstStyle/>
          <a:p>
            <a:pPr indent="0" marL="0">
              <a:buNone/>
            </a:pPr>
            <a:r>
              <a:rPr lang="en-US" sz="2200" i="1" dirty="0">
                <a:solidFill>
                  <a:srgbClr val="A8C4E0"/>
                </a:solidFill>
              </a:rPr>
              <a:t>I had no idea what any of it actually meant.</a:t>
            </a:r>
            <a:endParaRPr lang="en-US" sz="2200" dirty="0"/>
          </a:p>
        </p:txBody>
      </p:sp>
      <p:sp>
        <p:nvSpPr>
          <p:cNvPr id="5" name="Shape 3"/>
          <p:cNvSpPr/>
          <p:nvPr/>
        </p:nvSpPr>
        <p:spPr>
          <a:xfrm>
            <a:off x="457200" y="2468880"/>
            <a:ext cx="8229600" cy="0"/>
          </a:xfrm>
          <a:prstGeom prst="line">
            <a:avLst/>
          </a:prstGeom>
          <a:noFill/>
          <a:ln w="19050">
            <a:solidFill>
              <a:srgbClr val="1A5276"/>
            </a:solidFill>
            <a:prstDash val="solid"/>
          </a:ln>
        </p:spPr>
      </p:sp>
      <p:sp>
        <p:nvSpPr>
          <p:cNvPr id="6" name="Text 4"/>
          <p:cNvSpPr/>
          <p:nvPr/>
        </p:nvSpPr>
        <p:spPr>
          <a:xfrm>
            <a:off x="457200" y="2651760"/>
            <a:ext cx="8229600" cy="594360"/>
          </a:xfrm>
          <a:prstGeom prst="rect">
            <a:avLst/>
          </a:prstGeom>
          <a:noFill/>
          <a:ln/>
        </p:spPr>
        <p:txBody>
          <a:bodyPr wrap="square" lIns="0" tIns="0" rIns="0" bIns="0" rtlCol="0" anchor="ctr"/>
          <a:lstStyle/>
          <a:p>
            <a:pPr indent="0" marL="0">
              <a:buNone/>
            </a:pPr>
            <a:r>
              <a:rPr lang="en-US" sz="2200" b="1" dirty="0">
                <a:solidFill>
                  <a:srgbClr val="FFFFFF"/>
                </a:solidFill>
              </a:rPr>
              <a:t>So I built something to find out.</a:t>
            </a:r>
            <a:endParaRPr lang="en-US" sz="2200" dirty="0"/>
          </a:p>
        </p:txBody>
      </p:sp>
      <p:sp>
        <p:nvSpPr>
          <p:cNvPr id="7" name="Shape 5"/>
          <p:cNvSpPr/>
          <p:nvPr/>
        </p:nvSpPr>
        <p:spPr>
          <a:xfrm>
            <a:off x="457200" y="3383280"/>
            <a:ext cx="2651760" cy="1188720"/>
          </a:xfrm>
          <a:prstGeom prst="roundRect">
            <a:avLst>
              <a:gd name="adj" fmla="val 7692"/>
            </a:avLst>
          </a:prstGeom>
          <a:solidFill>
            <a:srgbClr val="0A2F52"/>
          </a:solidFill>
          <a:ln w="10160">
            <a:solidFill>
              <a:srgbClr val="1A5276"/>
            </a:solidFill>
            <a:prstDash val="solid"/>
          </a:ln>
        </p:spPr>
      </p:sp>
      <p:sp>
        <p:nvSpPr>
          <p:cNvPr id="8" name="Text 6"/>
          <p:cNvSpPr/>
          <p:nvPr/>
        </p:nvSpPr>
        <p:spPr>
          <a:xfrm>
            <a:off x="566928" y="3456432"/>
            <a:ext cx="2432304" cy="457200"/>
          </a:xfrm>
          <a:prstGeom prst="rect">
            <a:avLst/>
          </a:prstGeom>
          <a:noFill/>
          <a:ln/>
        </p:spPr>
        <p:txBody>
          <a:bodyPr wrap="square" lIns="0" tIns="0" rIns="0" bIns="0" rtlCol="0" anchor="t"/>
          <a:lstStyle/>
          <a:p>
            <a:pPr indent="0" marL="0">
              <a:buNone/>
            </a:pPr>
            <a:r>
              <a:rPr lang="en-US" sz="950" b="1" dirty="0">
                <a:solidFill>
                  <a:srgbClr val="FFFFFF"/>
                </a:solidFill>
              </a:rPr>
              <a:t>What is a multi-agent system really?</a:t>
            </a:r>
            <a:endParaRPr lang="en-US" sz="950" dirty="0"/>
          </a:p>
        </p:txBody>
      </p:sp>
      <p:sp>
        <p:nvSpPr>
          <p:cNvPr id="9" name="Text 7"/>
          <p:cNvSpPr/>
          <p:nvPr/>
        </p:nvSpPr>
        <p:spPr>
          <a:xfrm>
            <a:off x="566928" y="3913632"/>
            <a:ext cx="2432304" cy="566928"/>
          </a:xfrm>
          <a:prstGeom prst="rect">
            <a:avLst/>
          </a:prstGeom>
          <a:noFill/>
          <a:ln/>
        </p:spPr>
        <p:txBody>
          <a:bodyPr wrap="square" lIns="0" tIns="0" rIns="0" bIns="0" rtlCol="0" anchor="t"/>
          <a:lstStyle/>
          <a:p>
            <a:pPr indent="0" marL="0">
              <a:buNone/>
            </a:pPr>
            <a:r>
              <a:rPr lang="en-US" sz="850" i="1" dirty="0">
                <a:solidFill>
                  <a:srgbClr val="7FB3D3"/>
                </a:solidFill>
              </a:rPr>
              <a:t>Not the LinkedIn definition. The actual thing.</a:t>
            </a:r>
            <a:endParaRPr lang="en-US" sz="850" dirty="0"/>
          </a:p>
        </p:txBody>
      </p:sp>
      <p:sp>
        <p:nvSpPr>
          <p:cNvPr id="10" name="Shape 8"/>
          <p:cNvSpPr/>
          <p:nvPr/>
        </p:nvSpPr>
        <p:spPr>
          <a:xfrm>
            <a:off x="3291840" y="3383280"/>
            <a:ext cx="2651760" cy="1188720"/>
          </a:xfrm>
          <a:prstGeom prst="roundRect">
            <a:avLst>
              <a:gd name="adj" fmla="val 7692"/>
            </a:avLst>
          </a:prstGeom>
          <a:solidFill>
            <a:srgbClr val="0A2F52"/>
          </a:solidFill>
          <a:ln w="10160">
            <a:solidFill>
              <a:srgbClr val="1A5276"/>
            </a:solidFill>
            <a:prstDash val="solid"/>
          </a:ln>
        </p:spPr>
      </p:sp>
      <p:sp>
        <p:nvSpPr>
          <p:cNvPr id="11" name="Text 9"/>
          <p:cNvSpPr/>
          <p:nvPr/>
        </p:nvSpPr>
        <p:spPr>
          <a:xfrm>
            <a:off x="3401568" y="3456432"/>
            <a:ext cx="2432304" cy="457200"/>
          </a:xfrm>
          <a:prstGeom prst="rect">
            <a:avLst/>
          </a:prstGeom>
          <a:noFill/>
          <a:ln/>
        </p:spPr>
        <p:txBody>
          <a:bodyPr wrap="square" lIns="0" tIns="0" rIns="0" bIns="0" rtlCol="0" anchor="t"/>
          <a:lstStyle/>
          <a:p>
            <a:pPr indent="0" marL="0">
              <a:buNone/>
            </a:pPr>
            <a:r>
              <a:rPr lang="en-US" sz="950" b="1" dirty="0">
                <a:solidFill>
                  <a:srgbClr val="FFFFFF"/>
                </a:solidFill>
              </a:rPr>
              <a:t>Where does AI actually help?</a:t>
            </a:r>
            <a:endParaRPr lang="en-US" sz="950" dirty="0"/>
          </a:p>
        </p:txBody>
      </p:sp>
      <p:sp>
        <p:nvSpPr>
          <p:cNvPr id="12" name="Text 10"/>
          <p:cNvSpPr/>
          <p:nvPr/>
        </p:nvSpPr>
        <p:spPr>
          <a:xfrm>
            <a:off x="3401568" y="3913632"/>
            <a:ext cx="2432304" cy="566928"/>
          </a:xfrm>
          <a:prstGeom prst="rect">
            <a:avLst/>
          </a:prstGeom>
          <a:noFill/>
          <a:ln/>
        </p:spPr>
        <p:txBody>
          <a:bodyPr wrap="square" lIns="0" tIns="0" rIns="0" bIns="0" rtlCol="0" anchor="t"/>
          <a:lstStyle/>
          <a:p>
            <a:pPr indent="0" marL="0">
              <a:buNone/>
            </a:pPr>
            <a:r>
              <a:rPr lang="en-US" sz="850" i="1" dirty="0">
                <a:solidFill>
                  <a:srgbClr val="7FB3D3"/>
                </a:solidFill>
              </a:rPr>
              <a:t>And where is it just complexity for its own sake.</a:t>
            </a:r>
            <a:endParaRPr lang="en-US" sz="850" dirty="0"/>
          </a:p>
        </p:txBody>
      </p:sp>
      <p:sp>
        <p:nvSpPr>
          <p:cNvPr id="13" name="Shape 11"/>
          <p:cNvSpPr/>
          <p:nvPr/>
        </p:nvSpPr>
        <p:spPr>
          <a:xfrm>
            <a:off x="6126480" y="3383280"/>
            <a:ext cx="2651760" cy="1188720"/>
          </a:xfrm>
          <a:prstGeom prst="roundRect">
            <a:avLst>
              <a:gd name="adj" fmla="val 7692"/>
            </a:avLst>
          </a:prstGeom>
          <a:solidFill>
            <a:srgbClr val="0A2F52"/>
          </a:solidFill>
          <a:ln w="10160">
            <a:solidFill>
              <a:srgbClr val="1A5276"/>
            </a:solidFill>
            <a:prstDash val="solid"/>
          </a:ln>
        </p:spPr>
      </p:sp>
      <p:sp>
        <p:nvSpPr>
          <p:cNvPr id="14" name="Text 12"/>
          <p:cNvSpPr/>
          <p:nvPr/>
        </p:nvSpPr>
        <p:spPr>
          <a:xfrm>
            <a:off x="6236208" y="3456432"/>
            <a:ext cx="2432304" cy="457200"/>
          </a:xfrm>
          <a:prstGeom prst="rect">
            <a:avLst/>
          </a:prstGeom>
          <a:noFill/>
          <a:ln/>
        </p:spPr>
        <p:txBody>
          <a:bodyPr wrap="square" lIns="0" tIns="0" rIns="0" bIns="0" rtlCol="0" anchor="t"/>
          <a:lstStyle/>
          <a:p>
            <a:pPr indent="0" marL="0">
              <a:buNone/>
            </a:pPr>
            <a:r>
              <a:rPr lang="en-US" sz="950" b="1" dirty="0">
                <a:solidFill>
                  <a:srgbClr val="FFFFFF"/>
                </a:solidFill>
              </a:rPr>
              <a:t>Can I build something useful with it?</a:t>
            </a:r>
            <a:endParaRPr lang="en-US" sz="950" dirty="0"/>
          </a:p>
        </p:txBody>
      </p:sp>
      <p:sp>
        <p:nvSpPr>
          <p:cNvPr id="15" name="Text 13"/>
          <p:cNvSpPr/>
          <p:nvPr/>
        </p:nvSpPr>
        <p:spPr>
          <a:xfrm>
            <a:off x="6236208" y="3913632"/>
            <a:ext cx="2432304" cy="566928"/>
          </a:xfrm>
          <a:prstGeom prst="rect">
            <a:avLst/>
          </a:prstGeom>
          <a:noFill/>
          <a:ln/>
        </p:spPr>
        <p:txBody>
          <a:bodyPr wrap="square" lIns="0" tIns="0" rIns="0" bIns="0" rtlCol="0" anchor="t"/>
          <a:lstStyle/>
          <a:p>
            <a:pPr indent="0" marL="0">
              <a:buNone/>
            </a:pPr>
            <a:r>
              <a:rPr lang="en-US" sz="850" i="1" dirty="0">
                <a:solidFill>
                  <a:srgbClr val="7FB3D3"/>
                </a:solidFill>
              </a:rPr>
              <a:t>Not a demo. Something that solves a real problem.</a:t>
            </a:r>
            <a:endParaRPr lang="en-US" sz="850" dirty="0"/>
          </a:p>
        </p:txBody>
      </p:sp>
      <p:sp>
        <p:nvSpPr>
          <p:cNvPr id="16" name="Shape 14"/>
          <p:cNvSpPr/>
          <p:nvPr/>
        </p:nvSpPr>
        <p:spPr>
          <a:xfrm>
            <a:off x="457200" y="4663440"/>
            <a:ext cx="8229600" cy="347472"/>
          </a:xfrm>
          <a:prstGeom prst="roundRect">
            <a:avLst>
              <a:gd name="adj" fmla="val 15789"/>
            </a:avLst>
          </a:prstGeom>
          <a:solidFill>
            <a:srgbClr val="27AE60"/>
          </a:solidFill>
          <a:ln w="12700">
            <a:solidFill>
              <a:srgbClr val="27AE60"/>
            </a:solidFill>
            <a:prstDash val="solid"/>
          </a:ln>
        </p:spPr>
      </p:sp>
      <p:sp>
        <p:nvSpPr>
          <p:cNvPr id="17" name="Text 15"/>
          <p:cNvSpPr/>
          <p:nvPr/>
        </p:nvSpPr>
        <p:spPr>
          <a:xfrm>
            <a:off x="566928" y="4681728"/>
            <a:ext cx="8010144" cy="310896"/>
          </a:xfrm>
          <a:prstGeom prst="rect">
            <a:avLst/>
          </a:prstGeom>
          <a:noFill/>
          <a:ln/>
        </p:spPr>
        <p:txBody>
          <a:bodyPr wrap="square" lIns="0" tIns="0" rIns="0" bIns="0" rtlCol="0" anchor="ctr"/>
          <a:lstStyle/>
          <a:p>
            <a:pPr indent="0" marL="0">
              <a:buNone/>
            </a:pPr>
            <a:r>
              <a:rPr lang="en-US" sz="900" b="1" dirty="0">
                <a:solidFill>
                  <a:srgbClr val="FFFFFF"/>
                </a:solidFill>
              </a:rPr>
              <a:t>What I built:  A bank customer churn intelligence system using multi-agent orchestration, LangGraph, GPT-4o-mini, and Streamlit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3B66"/>
          </a:solidFill>
          <a:ln w="12700">
            <a:solidFill>
              <a:srgbClr val="0D3B66"/>
            </a:solidFill>
            <a:prstDash val="solid"/>
          </a:ln>
        </p:spPr>
        <p:txBody>
          <a:bodyPr/>
          <a:lstStyle/>
          <a:p>
            <a:endParaRPr lang="en-US"/>
          </a:p>
        </p:txBody>
      </p:sp>
      <p:sp>
        <p:nvSpPr>
          <p:cNvPr id="3" name="Text 1"/>
          <p:cNvSpPr/>
          <p:nvPr/>
        </p:nvSpPr>
        <p:spPr>
          <a:xfrm>
            <a:off x="365760" y="0"/>
            <a:ext cx="7315200" cy="566928"/>
          </a:xfrm>
          <a:prstGeom prst="rect">
            <a:avLst/>
          </a:prstGeom>
          <a:noFill/>
          <a:ln/>
        </p:spPr>
        <p:txBody>
          <a:bodyPr wrap="square" lIns="0" tIns="0" rIns="0" bIns="0" rtlCol="0" anchor="ctr"/>
          <a:lstStyle/>
          <a:p>
            <a:pPr marL="0" indent="0">
              <a:buNone/>
            </a:pPr>
            <a:r>
              <a:rPr lang="en-US" sz="2400" b="1" dirty="0">
                <a:solidFill>
                  <a:srgbClr val="FFFFFF"/>
                </a:solidFill>
              </a:rPr>
              <a:t>The Problem We Solved</a:t>
            </a:r>
            <a:endParaRPr lang="en-US" sz="2400" dirty="0"/>
          </a:p>
        </p:txBody>
      </p:sp>
      <p:sp>
        <p:nvSpPr>
          <p:cNvPr id="4" name="Text 2"/>
          <p:cNvSpPr/>
          <p:nvPr/>
        </p:nvSpPr>
        <p:spPr>
          <a:xfrm>
            <a:off x="365760" y="530352"/>
            <a:ext cx="8229600" cy="182880"/>
          </a:xfrm>
          <a:prstGeom prst="rect">
            <a:avLst/>
          </a:prstGeom>
          <a:noFill/>
          <a:ln/>
        </p:spPr>
        <p:txBody>
          <a:bodyPr wrap="square" lIns="0" tIns="0" rIns="0" bIns="0" rtlCol="0" anchor="ctr"/>
          <a:lstStyle/>
          <a:p>
            <a:pPr marL="0" indent="0">
              <a:buNone/>
            </a:pPr>
            <a:r>
              <a:rPr lang="en-US" sz="850" dirty="0">
                <a:solidFill>
                  <a:srgbClr val="A8C4E0"/>
                </a:solidFill>
              </a:rPr>
              <a:t>Bank Churn Intelligence System  ·  Business Case</a:t>
            </a:r>
            <a:endParaRPr lang="en-US" sz="850" dirty="0"/>
          </a:p>
        </p:txBody>
      </p:sp>
      <p:sp>
        <p:nvSpPr>
          <p:cNvPr id="5" name="Shape 3"/>
          <p:cNvSpPr/>
          <p:nvPr/>
        </p:nvSpPr>
        <p:spPr>
          <a:xfrm>
            <a:off x="274320" y="868680"/>
            <a:ext cx="3931920" cy="3749040"/>
          </a:xfrm>
          <a:prstGeom prst="roundRect">
            <a:avLst>
              <a:gd name="adj" fmla="val 2439"/>
            </a:avLst>
          </a:prstGeom>
          <a:solidFill>
            <a:srgbClr val="FFF5F5"/>
          </a:solidFill>
          <a:ln w="15240">
            <a:solidFill>
              <a:srgbClr val="E74C3C"/>
            </a:solidFill>
            <a:prstDash val="solid"/>
          </a:ln>
          <a:effectLst>
            <a:outerShdw blurRad="63500" dist="25400" dir="2700000" algn="bl" rotWithShape="0">
              <a:srgbClr val="000000">
                <a:alpha val="8000"/>
              </a:srgbClr>
            </a:outerShdw>
          </a:effectLst>
        </p:spPr>
        <p:txBody>
          <a:bodyPr/>
          <a:lstStyle/>
          <a:p>
            <a:endParaRPr lang="en-US"/>
          </a:p>
        </p:txBody>
      </p:sp>
      <p:sp>
        <p:nvSpPr>
          <p:cNvPr id="6" name="Text 4"/>
          <p:cNvSpPr/>
          <p:nvPr/>
        </p:nvSpPr>
        <p:spPr>
          <a:xfrm>
            <a:off x="457200" y="960120"/>
            <a:ext cx="3566160" cy="320040"/>
          </a:xfrm>
          <a:prstGeom prst="rect">
            <a:avLst/>
          </a:prstGeom>
          <a:noFill/>
          <a:ln/>
        </p:spPr>
        <p:txBody>
          <a:bodyPr wrap="square" lIns="0" tIns="0" rIns="0" bIns="0" rtlCol="0" anchor="ctr"/>
          <a:lstStyle/>
          <a:p>
            <a:pPr marL="0" indent="0" algn="ctr">
              <a:buNone/>
            </a:pPr>
            <a:r>
              <a:rPr lang="en-US" sz="1300" b="1" dirty="0">
                <a:solidFill>
                  <a:srgbClr val="C0392B"/>
                </a:solidFill>
              </a:rPr>
              <a:t>BEFORE</a:t>
            </a:r>
            <a:endParaRPr lang="en-US" sz="1300" dirty="0"/>
          </a:p>
        </p:txBody>
      </p:sp>
      <p:sp>
        <p:nvSpPr>
          <p:cNvPr id="7" name="Text 5"/>
          <p:cNvSpPr/>
          <p:nvPr/>
        </p:nvSpPr>
        <p:spPr>
          <a:xfrm>
            <a:off x="457200" y="1325880"/>
            <a:ext cx="3566160" cy="256032"/>
          </a:xfrm>
          <a:prstGeom prst="rect">
            <a:avLst/>
          </a:prstGeom>
          <a:noFill/>
          <a:ln/>
        </p:spPr>
        <p:txBody>
          <a:bodyPr wrap="square" lIns="0" tIns="0" rIns="0" bIns="0" rtlCol="0" anchor="ctr"/>
          <a:lstStyle/>
          <a:p>
            <a:pPr marL="0" indent="0" algn="ctr">
              <a:buNone/>
            </a:pPr>
            <a:r>
              <a:rPr lang="en-US" sz="900" i="1" dirty="0">
                <a:solidFill>
                  <a:srgbClr val="7F8C8D"/>
                </a:solidFill>
              </a:rPr>
              <a:t>Model sits behind a static dashboard</a:t>
            </a:r>
            <a:endParaRPr lang="en-US" sz="900" dirty="0"/>
          </a:p>
        </p:txBody>
      </p:sp>
      <p:sp>
        <p:nvSpPr>
          <p:cNvPr id="8" name="Shape 6"/>
          <p:cNvSpPr/>
          <p:nvPr/>
        </p:nvSpPr>
        <p:spPr>
          <a:xfrm>
            <a:off x="438912" y="1719072"/>
            <a:ext cx="3602736" cy="438912"/>
          </a:xfrm>
          <a:prstGeom prst="roundRect">
            <a:avLst>
              <a:gd name="adj" fmla="val 12500"/>
            </a:avLst>
          </a:prstGeom>
          <a:solidFill>
            <a:srgbClr val="FEF0F0"/>
          </a:solidFill>
          <a:ln w="6350">
            <a:solidFill>
              <a:srgbClr val="F5B7B1"/>
            </a:solidFill>
            <a:prstDash val="solid"/>
          </a:ln>
        </p:spPr>
        <p:txBody>
          <a:bodyPr/>
          <a:lstStyle/>
          <a:p>
            <a:endParaRPr lang="en-US"/>
          </a:p>
        </p:txBody>
      </p:sp>
      <p:sp>
        <p:nvSpPr>
          <p:cNvPr id="9" name="Text 7"/>
          <p:cNvSpPr/>
          <p:nvPr/>
        </p:nvSpPr>
        <p:spPr>
          <a:xfrm>
            <a:off x="530352" y="1737360"/>
            <a:ext cx="3419856" cy="402336"/>
          </a:xfrm>
          <a:prstGeom prst="rect">
            <a:avLst/>
          </a:prstGeom>
          <a:noFill/>
          <a:ln/>
        </p:spPr>
        <p:txBody>
          <a:bodyPr wrap="square" lIns="0" tIns="0" rIns="0" bIns="0" rtlCol="0" anchor="ctr"/>
          <a:lstStyle/>
          <a:p>
            <a:pPr marL="0" indent="0">
              <a:buNone/>
            </a:pPr>
            <a:r>
              <a:rPr lang="en-US" sz="800" dirty="0">
                <a:solidFill>
                  <a:srgbClr val="5D3333"/>
                </a:solidFill>
              </a:rPr>
              <a:t>⏳  Analyst sees churn rate is 20%</a:t>
            </a:r>
            <a:endParaRPr lang="en-US" sz="800" dirty="0"/>
          </a:p>
          <a:p>
            <a:pPr marL="0" indent="0">
              <a:buNone/>
            </a:pPr>
            <a:r>
              <a:rPr lang="en-US" sz="800" dirty="0">
                <a:solidFill>
                  <a:srgbClr val="5D3333"/>
                </a:solidFill>
              </a:rPr>
              <a:t>Asks DS team what it means</a:t>
            </a:r>
            <a:endParaRPr lang="en-US" sz="800" dirty="0"/>
          </a:p>
        </p:txBody>
      </p:sp>
      <p:sp>
        <p:nvSpPr>
          <p:cNvPr id="10" name="Shape 8"/>
          <p:cNvSpPr/>
          <p:nvPr/>
        </p:nvSpPr>
        <p:spPr>
          <a:xfrm>
            <a:off x="438912" y="2212848"/>
            <a:ext cx="3602736" cy="438912"/>
          </a:xfrm>
          <a:prstGeom prst="roundRect">
            <a:avLst>
              <a:gd name="adj" fmla="val 12500"/>
            </a:avLst>
          </a:prstGeom>
          <a:solidFill>
            <a:srgbClr val="FEF0F0"/>
          </a:solidFill>
          <a:ln w="6350">
            <a:solidFill>
              <a:srgbClr val="F5B7B1"/>
            </a:solidFill>
            <a:prstDash val="solid"/>
          </a:ln>
        </p:spPr>
        <p:txBody>
          <a:bodyPr/>
          <a:lstStyle/>
          <a:p>
            <a:endParaRPr lang="en-US"/>
          </a:p>
        </p:txBody>
      </p:sp>
      <p:sp>
        <p:nvSpPr>
          <p:cNvPr id="11" name="Text 9"/>
          <p:cNvSpPr/>
          <p:nvPr/>
        </p:nvSpPr>
        <p:spPr>
          <a:xfrm>
            <a:off x="530352" y="2231136"/>
            <a:ext cx="3419856" cy="402336"/>
          </a:xfrm>
          <a:prstGeom prst="rect">
            <a:avLst/>
          </a:prstGeom>
          <a:noFill/>
          <a:ln/>
        </p:spPr>
        <p:txBody>
          <a:bodyPr wrap="square" lIns="0" tIns="0" rIns="0" bIns="0" rtlCol="0" anchor="ctr"/>
          <a:lstStyle/>
          <a:p>
            <a:pPr marL="0" indent="0">
              <a:buNone/>
            </a:pPr>
            <a:r>
              <a:rPr lang="en-US" sz="800" dirty="0">
                <a:solidFill>
                  <a:srgbClr val="5D3333"/>
                </a:solidFill>
              </a:rPr>
              <a:t>📧  DS team writes custom query</a:t>
            </a:r>
            <a:endParaRPr lang="en-US" sz="800" dirty="0"/>
          </a:p>
          <a:p>
            <a:pPr marL="0" indent="0">
              <a:buNone/>
            </a:pPr>
            <a:r>
              <a:rPr lang="en-US" sz="800" dirty="0">
                <a:solidFill>
                  <a:srgbClr val="5D3333"/>
                </a:solidFill>
              </a:rPr>
              <a:t>Sends spreadsheet 2 days later</a:t>
            </a:r>
            <a:endParaRPr lang="en-US" sz="800" dirty="0"/>
          </a:p>
        </p:txBody>
      </p:sp>
      <p:sp>
        <p:nvSpPr>
          <p:cNvPr id="12" name="Shape 10"/>
          <p:cNvSpPr/>
          <p:nvPr/>
        </p:nvSpPr>
        <p:spPr>
          <a:xfrm>
            <a:off x="438912" y="2706624"/>
            <a:ext cx="3602736" cy="438912"/>
          </a:xfrm>
          <a:prstGeom prst="roundRect">
            <a:avLst>
              <a:gd name="adj" fmla="val 12500"/>
            </a:avLst>
          </a:prstGeom>
          <a:solidFill>
            <a:srgbClr val="FEF0F0"/>
          </a:solidFill>
          <a:ln w="6350">
            <a:solidFill>
              <a:srgbClr val="F5B7B1"/>
            </a:solidFill>
            <a:prstDash val="solid"/>
          </a:ln>
        </p:spPr>
        <p:txBody>
          <a:bodyPr/>
          <a:lstStyle/>
          <a:p>
            <a:endParaRPr lang="en-US"/>
          </a:p>
        </p:txBody>
      </p:sp>
      <p:sp>
        <p:nvSpPr>
          <p:cNvPr id="13" name="Text 11"/>
          <p:cNvSpPr/>
          <p:nvPr/>
        </p:nvSpPr>
        <p:spPr>
          <a:xfrm>
            <a:off x="530352" y="2724912"/>
            <a:ext cx="3419856" cy="402336"/>
          </a:xfrm>
          <a:prstGeom prst="rect">
            <a:avLst/>
          </a:prstGeom>
          <a:noFill/>
          <a:ln/>
        </p:spPr>
        <p:txBody>
          <a:bodyPr wrap="square" lIns="0" tIns="0" rIns="0" bIns="0" rtlCol="0" anchor="ctr"/>
          <a:lstStyle/>
          <a:p>
            <a:pPr marL="0" indent="0">
              <a:buNone/>
            </a:pPr>
            <a:r>
              <a:rPr lang="en-US" sz="800" dirty="0">
                <a:solidFill>
                  <a:srgbClr val="5D3333"/>
                </a:solidFill>
              </a:rPr>
              <a:t>🔄  Manager asks follow-up question</a:t>
            </a:r>
            <a:endParaRPr lang="en-US" sz="800" dirty="0"/>
          </a:p>
          <a:p>
            <a:pPr marL="0" indent="0">
              <a:buNone/>
            </a:pPr>
            <a:r>
              <a:rPr lang="en-US" sz="800" dirty="0">
                <a:solidFill>
                  <a:srgbClr val="5D3333"/>
                </a:solidFill>
              </a:rPr>
              <a:t>Cycle repeats for a week</a:t>
            </a:r>
            <a:endParaRPr lang="en-US" sz="800" dirty="0"/>
          </a:p>
        </p:txBody>
      </p:sp>
      <p:sp>
        <p:nvSpPr>
          <p:cNvPr id="14" name="Shape 12"/>
          <p:cNvSpPr/>
          <p:nvPr/>
        </p:nvSpPr>
        <p:spPr>
          <a:xfrm>
            <a:off x="438912" y="3200400"/>
            <a:ext cx="3602736" cy="438912"/>
          </a:xfrm>
          <a:prstGeom prst="roundRect">
            <a:avLst>
              <a:gd name="adj" fmla="val 12500"/>
            </a:avLst>
          </a:prstGeom>
          <a:solidFill>
            <a:srgbClr val="FEF0F0"/>
          </a:solidFill>
          <a:ln w="6350">
            <a:solidFill>
              <a:srgbClr val="F5B7B1"/>
            </a:solidFill>
            <a:prstDash val="solid"/>
          </a:ln>
        </p:spPr>
        <p:txBody>
          <a:bodyPr/>
          <a:lstStyle/>
          <a:p>
            <a:endParaRPr lang="en-US"/>
          </a:p>
        </p:txBody>
      </p:sp>
      <p:sp>
        <p:nvSpPr>
          <p:cNvPr id="15" name="Text 13"/>
          <p:cNvSpPr/>
          <p:nvPr/>
        </p:nvSpPr>
        <p:spPr>
          <a:xfrm>
            <a:off x="530352" y="3218688"/>
            <a:ext cx="3419856" cy="402336"/>
          </a:xfrm>
          <a:prstGeom prst="rect">
            <a:avLst/>
          </a:prstGeom>
          <a:noFill/>
          <a:ln/>
        </p:spPr>
        <p:txBody>
          <a:bodyPr wrap="square" lIns="0" tIns="0" rIns="0" bIns="0" rtlCol="0" anchor="ctr"/>
          <a:lstStyle/>
          <a:p>
            <a:pPr marL="0" indent="0">
              <a:buNone/>
            </a:pPr>
            <a:r>
              <a:rPr lang="en-US" sz="800" dirty="0">
                <a:solidFill>
                  <a:srgbClr val="5D3333"/>
                </a:solidFill>
              </a:rPr>
              <a:t>📞  Retention team calls customers</a:t>
            </a:r>
            <a:endParaRPr lang="en-US" sz="800" dirty="0"/>
          </a:p>
          <a:p>
            <a:pPr marL="0" indent="0">
              <a:buNone/>
            </a:pPr>
            <a:r>
              <a:rPr lang="en-US" sz="800" dirty="0">
                <a:solidFill>
                  <a:srgbClr val="5D3333"/>
                </a:solidFill>
              </a:rPr>
              <a:t>With generic script, no context</a:t>
            </a:r>
            <a:endParaRPr lang="en-US" sz="800" dirty="0"/>
          </a:p>
        </p:txBody>
      </p:sp>
      <p:sp>
        <p:nvSpPr>
          <p:cNvPr id="16" name="Shape 14"/>
          <p:cNvSpPr/>
          <p:nvPr/>
        </p:nvSpPr>
        <p:spPr>
          <a:xfrm>
            <a:off x="438912" y="3694176"/>
            <a:ext cx="3602736" cy="438912"/>
          </a:xfrm>
          <a:prstGeom prst="roundRect">
            <a:avLst>
              <a:gd name="adj" fmla="val 12500"/>
            </a:avLst>
          </a:prstGeom>
          <a:solidFill>
            <a:srgbClr val="FEF0F0"/>
          </a:solidFill>
          <a:ln w="6350">
            <a:solidFill>
              <a:srgbClr val="F5B7B1"/>
            </a:solidFill>
            <a:prstDash val="solid"/>
          </a:ln>
        </p:spPr>
        <p:txBody>
          <a:bodyPr/>
          <a:lstStyle/>
          <a:p>
            <a:endParaRPr lang="en-US"/>
          </a:p>
        </p:txBody>
      </p:sp>
      <p:sp>
        <p:nvSpPr>
          <p:cNvPr id="17" name="Text 15"/>
          <p:cNvSpPr/>
          <p:nvPr/>
        </p:nvSpPr>
        <p:spPr>
          <a:xfrm>
            <a:off x="530352" y="3712464"/>
            <a:ext cx="3419856" cy="402336"/>
          </a:xfrm>
          <a:prstGeom prst="rect">
            <a:avLst/>
          </a:prstGeom>
          <a:noFill/>
          <a:ln/>
        </p:spPr>
        <p:txBody>
          <a:bodyPr wrap="square" lIns="0" tIns="0" rIns="0" bIns="0" rtlCol="0" anchor="ctr"/>
          <a:lstStyle/>
          <a:p>
            <a:pPr marL="0" indent="0">
              <a:buNone/>
            </a:pPr>
            <a:r>
              <a:rPr lang="en-US" sz="800" dirty="0">
                <a:solidFill>
                  <a:srgbClr val="5D3333"/>
                </a:solidFill>
              </a:rPr>
              <a:t>💸  Customer churns anyway</a:t>
            </a:r>
            <a:endParaRPr lang="en-US" sz="800" dirty="0"/>
          </a:p>
          <a:p>
            <a:pPr marL="0" indent="0">
              <a:buNone/>
            </a:pPr>
            <a:r>
              <a:rPr lang="en-US" sz="800" dirty="0">
                <a:solidFill>
                  <a:srgbClr val="5D3333"/>
                </a:solidFill>
              </a:rPr>
              <a:t>Insight came too late</a:t>
            </a:r>
            <a:endParaRPr lang="en-US" sz="800" dirty="0"/>
          </a:p>
        </p:txBody>
      </p:sp>
      <p:sp>
        <p:nvSpPr>
          <p:cNvPr id="18" name="Shape 16"/>
          <p:cNvSpPr/>
          <p:nvPr/>
        </p:nvSpPr>
        <p:spPr>
          <a:xfrm>
            <a:off x="4297680" y="2560320"/>
            <a:ext cx="548640" cy="0"/>
          </a:xfrm>
          <a:prstGeom prst="line">
            <a:avLst/>
          </a:prstGeom>
          <a:noFill/>
          <a:ln w="25400">
            <a:solidFill>
              <a:srgbClr val="0D3B66"/>
            </a:solidFill>
            <a:prstDash val="solid"/>
          </a:ln>
        </p:spPr>
        <p:txBody>
          <a:bodyPr/>
          <a:lstStyle/>
          <a:p>
            <a:endParaRPr lang="en-US"/>
          </a:p>
        </p:txBody>
      </p:sp>
      <p:sp>
        <p:nvSpPr>
          <p:cNvPr id="19" name="Text 17"/>
          <p:cNvSpPr/>
          <p:nvPr/>
        </p:nvSpPr>
        <p:spPr>
          <a:xfrm>
            <a:off x="4315968" y="2377440"/>
            <a:ext cx="502920" cy="365760"/>
          </a:xfrm>
          <a:prstGeom prst="rect">
            <a:avLst/>
          </a:prstGeom>
          <a:noFill/>
          <a:ln/>
        </p:spPr>
        <p:txBody>
          <a:bodyPr wrap="square" lIns="0" tIns="0" rIns="0" bIns="0" rtlCol="0" anchor="ctr"/>
          <a:lstStyle/>
          <a:p>
            <a:pPr marL="0" indent="0" algn="ctr">
              <a:buNone/>
            </a:pPr>
            <a:r>
              <a:rPr lang="en-US" sz="2200" b="1" dirty="0">
                <a:solidFill>
                  <a:srgbClr val="0D3B66"/>
                </a:solidFill>
              </a:rPr>
              <a:t>→</a:t>
            </a:r>
            <a:endParaRPr lang="en-US" sz="2200" dirty="0"/>
          </a:p>
        </p:txBody>
      </p:sp>
      <p:sp>
        <p:nvSpPr>
          <p:cNvPr id="20" name="Shape 18"/>
          <p:cNvSpPr/>
          <p:nvPr/>
        </p:nvSpPr>
        <p:spPr>
          <a:xfrm>
            <a:off x="4937760" y="868680"/>
            <a:ext cx="3931920" cy="3749040"/>
          </a:xfrm>
          <a:prstGeom prst="roundRect">
            <a:avLst>
              <a:gd name="adj" fmla="val 2439"/>
            </a:avLst>
          </a:prstGeom>
          <a:solidFill>
            <a:srgbClr val="F0FFF4"/>
          </a:solidFill>
          <a:ln w="15240">
            <a:solidFill>
              <a:srgbClr val="27AE60"/>
            </a:solidFill>
            <a:prstDash val="solid"/>
          </a:ln>
          <a:effectLst>
            <a:outerShdw blurRad="63500" dist="25400" dir="2700000" algn="bl" rotWithShape="0">
              <a:srgbClr val="000000">
                <a:alpha val="8000"/>
              </a:srgbClr>
            </a:outerShdw>
          </a:effectLst>
        </p:spPr>
        <p:txBody>
          <a:bodyPr/>
          <a:lstStyle/>
          <a:p>
            <a:endParaRPr lang="en-US"/>
          </a:p>
        </p:txBody>
      </p:sp>
      <p:sp>
        <p:nvSpPr>
          <p:cNvPr id="21" name="Text 19"/>
          <p:cNvSpPr/>
          <p:nvPr/>
        </p:nvSpPr>
        <p:spPr>
          <a:xfrm>
            <a:off x="5120640" y="960120"/>
            <a:ext cx="3566160" cy="320040"/>
          </a:xfrm>
          <a:prstGeom prst="rect">
            <a:avLst/>
          </a:prstGeom>
          <a:noFill/>
          <a:ln/>
        </p:spPr>
        <p:txBody>
          <a:bodyPr wrap="square" lIns="0" tIns="0" rIns="0" bIns="0" rtlCol="0" anchor="ctr"/>
          <a:lstStyle/>
          <a:p>
            <a:pPr marL="0" indent="0" algn="ctr">
              <a:buNone/>
            </a:pPr>
            <a:r>
              <a:rPr lang="en-US" sz="1300" b="1" dirty="0">
                <a:solidFill>
                  <a:srgbClr val="1E8449"/>
                </a:solidFill>
              </a:rPr>
              <a:t>AFTER</a:t>
            </a:r>
            <a:endParaRPr lang="en-US" sz="1300" dirty="0"/>
          </a:p>
        </p:txBody>
      </p:sp>
      <p:sp>
        <p:nvSpPr>
          <p:cNvPr id="22" name="Text 20"/>
          <p:cNvSpPr/>
          <p:nvPr/>
        </p:nvSpPr>
        <p:spPr>
          <a:xfrm>
            <a:off x="5120640" y="1325880"/>
            <a:ext cx="3566160" cy="256032"/>
          </a:xfrm>
          <a:prstGeom prst="rect">
            <a:avLst/>
          </a:prstGeom>
          <a:noFill/>
          <a:ln/>
        </p:spPr>
        <p:txBody>
          <a:bodyPr wrap="square" lIns="0" tIns="0" rIns="0" bIns="0" rtlCol="0" anchor="ctr"/>
          <a:lstStyle/>
          <a:p>
            <a:pPr marL="0" indent="0" algn="ctr">
              <a:buNone/>
            </a:pPr>
            <a:r>
              <a:rPr lang="en-US" sz="900" i="1" dirty="0">
                <a:solidFill>
                  <a:srgbClr val="7F8C8D"/>
                </a:solidFill>
              </a:rPr>
              <a:t>Any team. Any question. 30 seconds.</a:t>
            </a:r>
            <a:endParaRPr lang="en-US" sz="900" dirty="0"/>
          </a:p>
        </p:txBody>
      </p:sp>
      <p:sp>
        <p:nvSpPr>
          <p:cNvPr id="23" name="Shape 21"/>
          <p:cNvSpPr/>
          <p:nvPr/>
        </p:nvSpPr>
        <p:spPr>
          <a:xfrm>
            <a:off x="5102352" y="1719072"/>
            <a:ext cx="3602736" cy="438912"/>
          </a:xfrm>
          <a:prstGeom prst="roundRect">
            <a:avLst>
              <a:gd name="adj" fmla="val 12500"/>
            </a:avLst>
          </a:prstGeom>
          <a:solidFill>
            <a:srgbClr val="E8F8EE"/>
          </a:solidFill>
          <a:ln w="6350">
            <a:solidFill>
              <a:srgbClr val="82E0AA"/>
            </a:solidFill>
            <a:prstDash val="solid"/>
          </a:ln>
        </p:spPr>
        <p:txBody>
          <a:bodyPr/>
          <a:lstStyle/>
          <a:p>
            <a:endParaRPr lang="en-US"/>
          </a:p>
        </p:txBody>
      </p:sp>
      <p:sp>
        <p:nvSpPr>
          <p:cNvPr id="24" name="Text 22"/>
          <p:cNvSpPr/>
          <p:nvPr/>
        </p:nvSpPr>
        <p:spPr>
          <a:xfrm>
            <a:off x="5193792" y="1737360"/>
            <a:ext cx="3419856" cy="402336"/>
          </a:xfrm>
          <a:prstGeom prst="rect">
            <a:avLst/>
          </a:prstGeom>
          <a:noFill/>
          <a:ln/>
        </p:spPr>
        <p:txBody>
          <a:bodyPr wrap="square" lIns="0" tIns="0" rIns="0" bIns="0" rtlCol="0" anchor="ctr"/>
          <a:lstStyle/>
          <a:p>
            <a:pPr marL="0" indent="0">
              <a:buNone/>
            </a:pPr>
            <a:r>
              <a:rPr lang="en-US" sz="800" dirty="0">
                <a:solidFill>
                  <a:srgbClr val="1A4731"/>
                </a:solidFill>
              </a:rPr>
              <a:t>💬  Analyst types question in plain English</a:t>
            </a:r>
            <a:endParaRPr lang="en-US" sz="800" dirty="0"/>
          </a:p>
          <a:p>
            <a:pPr marL="0" indent="0">
              <a:buNone/>
            </a:pPr>
            <a:r>
              <a:rPr lang="en-US" sz="800" dirty="0">
                <a:solidFill>
                  <a:srgbClr val="1A4731"/>
                </a:solidFill>
              </a:rPr>
              <a:t>No SQL. No waiting.</a:t>
            </a:r>
            <a:endParaRPr lang="en-US" sz="800" dirty="0"/>
          </a:p>
        </p:txBody>
      </p:sp>
      <p:sp>
        <p:nvSpPr>
          <p:cNvPr id="25" name="Shape 23"/>
          <p:cNvSpPr/>
          <p:nvPr/>
        </p:nvSpPr>
        <p:spPr>
          <a:xfrm>
            <a:off x="5102352" y="2212848"/>
            <a:ext cx="3602736" cy="438912"/>
          </a:xfrm>
          <a:prstGeom prst="roundRect">
            <a:avLst>
              <a:gd name="adj" fmla="val 12500"/>
            </a:avLst>
          </a:prstGeom>
          <a:solidFill>
            <a:srgbClr val="E8F8EE"/>
          </a:solidFill>
          <a:ln w="6350">
            <a:solidFill>
              <a:srgbClr val="82E0AA"/>
            </a:solidFill>
            <a:prstDash val="solid"/>
          </a:ln>
        </p:spPr>
        <p:txBody>
          <a:bodyPr/>
          <a:lstStyle/>
          <a:p>
            <a:endParaRPr lang="en-US"/>
          </a:p>
        </p:txBody>
      </p:sp>
      <p:sp>
        <p:nvSpPr>
          <p:cNvPr id="26" name="Text 24"/>
          <p:cNvSpPr/>
          <p:nvPr/>
        </p:nvSpPr>
        <p:spPr>
          <a:xfrm>
            <a:off x="5193792" y="2231136"/>
            <a:ext cx="3419856" cy="402336"/>
          </a:xfrm>
          <a:prstGeom prst="rect">
            <a:avLst/>
          </a:prstGeom>
          <a:noFill/>
          <a:ln/>
        </p:spPr>
        <p:txBody>
          <a:bodyPr wrap="square" lIns="0" tIns="0" rIns="0" bIns="0" rtlCol="0" anchor="ctr"/>
          <a:lstStyle/>
          <a:p>
            <a:pPr marL="0" indent="0">
              <a:buNone/>
            </a:pPr>
            <a:r>
              <a:rPr lang="en-US" sz="800" dirty="0">
                <a:solidFill>
                  <a:srgbClr val="1A4731"/>
                </a:solidFill>
              </a:rPr>
              <a:t>🤖  AI reasons over the model</a:t>
            </a:r>
            <a:endParaRPr lang="en-US" sz="800" dirty="0"/>
          </a:p>
          <a:p>
            <a:pPr marL="0" indent="0">
              <a:buNone/>
            </a:pPr>
            <a:r>
              <a:rPr lang="en-US" sz="800" dirty="0">
                <a:solidFill>
                  <a:srgbClr val="1A4731"/>
                </a:solidFill>
              </a:rPr>
              <a:t>Returns grounded answer in 30 sec</a:t>
            </a:r>
            <a:endParaRPr lang="en-US" sz="800" dirty="0"/>
          </a:p>
        </p:txBody>
      </p:sp>
      <p:sp>
        <p:nvSpPr>
          <p:cNvPr id="27" name="Shape 25"/>
          <p:cNvSpPr/>
          <p:nvPr/>
        </p:nvSpPr>
        <p:spPr>
          <a:xfrm>
            <a:off x="5102352" y="2706624"/>
            <a:ext cx="3602736" cy="438912"/>
          </a:xfrm>
          <a:prstGeom prst="roundRect">
            <a:avLst>
              <a:gd name="adj" fmla="val 12500"/>
            </a:avLst>
          </a:prstGeom>
          <a:solidFill>
            <a:srgbClr val="E8F8EE"/>
          </a:solidFill>
          <a:ln w="6350">
            <a:solidFill>
              <a:srgbClr val="82E0AA"/>
            </a:solidFill>
            <a:prstDash val="solid"/>
          </a:ln>
        </p:spPr>
        <p:txBody>
          <a:bodyPr/>
          <a:lstStyle/>
          <a:p>
            <a:endParaRPr lang="en-US"/>
          </a:p>
        </p:txBody>
      </p:sp>
      <p:sp>
        <p:nvSpPr>
          <p:cNvPr id="28" name="Text 26"/>
          <p:cNvSpPr/>
          <p:nvPr/>
        </p:nvSpPr>
        <p:spPr>
          <a:xfrm>
            <a:off x="5193792" y="2724912"/>
            <a:ext cx="3419856" cy="402336"/>
          </a:xfrm>
          <a:prstGeom prst="rect">
            <a:avLst/>
          </a:prstGeom>
          <a:noFill/>
          <a:ln/>
        </p:spPr>
        <p:txBody>
          <a:bodyPr wrap="square" lIns="0" tIns="0" rIns="0" bIns="0" rtlCol="0" anchor="ctr"/>
          <a:lstStyle/>
          <a:p>
            <a:pPr marL="0" indent="0">
              <a:buNone/>
            </a:pPr>
            <a:r>
              <a:rPr lang="en-US" sz="800" dirty="0">
                <a:solidFill>
                  <a:srgbClr val="1A4731"/>
                </a:solidFill>
              </a:rPr>
              <a:t>📋  Retention team gets a call list</a:t>
            </a:r>
            <a:endParaRPr lang="en-US" sz="800" dirty="0"/>
          </a:p>
          <a:p>
            <a:pPr marL="0" indent="0">
              <a:buNone/>
            </a:pPr>
            <a:r>
              <a:rPr lang="en-US" sz="800" dirty="0">
                <a:solidFill>
                  <a:srgbClr val="1A4731"/>
                </a:solidFill>
              </a:rPr>
              <a:t>With personalized talking points</a:t>
            </a:r>
            <a:endParaRPr lang="en-US" sz="800" dirty="0"/>
          </a:p>
        </p:txBody>
      </p:sp>
      <p:sp>
        <p:nvSpPr>
          <p:cNvPr id="29" name="Shape 27"/>
          <p:cNvSpPr/>
          <p:nvPr/>
        </p:nvSpPr>
        <p:spPr>
          <a:xfrm>
            <a:off x="5102352" y="3200400"/>
            <a:ext cx="3602736" cy="438912"/>
          </a:xfrm>
          <a:prstGeom prst="roundRect">
            <a:avLst>
              <a:gd name="adj" fmla="val 12500"/>
            </a:avLst>
          </a:prstGeom>
          <a:solidFill>
            <a:srgbClr val="E8F8EE"/>
          </a:solidFill>
          <a:ln w="6350">
            <a:solidFill>
              <a:srgbClr val="82E0AA"/>
            </a:solidFill>
            <a:prstDash val="solid"/>
          </a:ln>
        </p:spPr>
        <p:txBody>
          <a:bodyPr/>
          <a:lstStyle/>
          <a:p>
            <a:endParaRPr lang="en-US"/>
          </a:p>
        </p:txBody>
      </p:sp>
      <p:sp>
        <p:nvSpPr>
          <p:cNvPr id="30" name="Text 28"/>
          <p:cNvSpPr/>
          <p:nvPr/>
        </p:nvSpPr>
        <p:spPr>
          <a:xfrm>
            <a:off x="5193792" y="3218688"/>
            <a:ext cx="3419856" cy="402336"/>
          </a:xfrm>
          <a:prstGeom prst="rect">
            <a:avLst/>
          </a:prstGeom>
          <a:noFill/>
          <a:ln/>
        </p:spPr>
        <p:txBody>
          <a:bodyPr wrap="square" lIns="0" tIns="0" rIns="0" bIns="0" rtlCol="0" anchor="ctr"/>
          <a:lstStyle/>
          <a:p>
            <a:pPr marL="0" indent="0">
              <a:buNone/>
            </a:pPr>
            <a:r>
              <a:rPr lang="en-US" sz="800" dirty="0">
                <a:solidFill>
                  <a:srgbClr val="1A4731"/>
                </a:solidFill>
              </a:rPr>
              <a:t>🎯  Marketing targets the right segment</a:t>
            </a:r>
            <a:endParaRPr lang="en-US" sz="800" dirty="0"/>
          </a:p>
          <a:p>
            <a:pPr marL="0" indent="0">
              <a:buNone/>
            </a:pPr>
            <a:r>
              <a:rPr lang="en-US" sz="800" dirty="0">
                <a:solidFill>
                  <a:srgbClr val="1A4731"/>
                </a:solidFill>
              </a:rPr>
              <a:t>Same day, no DS team needed</a:t>
            </a:r>
            <a:endParaRPr lang="en-US" sz="800" dirty="0"/>
          </a:p>
        </p:txBody>
      </p:sp>
      <p:sp>
        <p:nvSpPr>
          <p:cNvPr id="31" name="Shape 29"/>
          <p:cNvSpPr/>
          <p:nvPr/>
        </p:nvSpPr>
        <p:spPr>
          <a:xfrm>
            <a:off x="5102352" y="3694176"/>
            <a:ext cx="3602736" cy="438912"/>
          </a:xfrm>
          <a:prstGeom prst="roundRect">
            <a:avLst>
              <a:gd name="adj" fmla="val 12500"/>
            </a:avLst>
          </a:prstGeom>
          <a:solidFill>
            <a:srgbClr val="E8F8EE"/>
          </a:solidFill>
          <a:ln w="6350">
            <a:solidFill>
              <a:srgbClr val="82E0AA"/>
            </a:solidFill>
            <a:prstDash val="solid"/>
          </a:ln>
        </p:spPr>
        <p:txBody>
          <a:bodyPr/>
          <a:lstStyle/>
          <a:p>
            <a:endParaRPr lang="en-US"/>
          </a:p>
        </p:txBody>
      </p:sp>
      <p:sp>
        <p:nvSpPr>
          <p:cNvPr id="32" name="Text 30"/>
          <p:cNvSpPr/>
          <p:nvPr/>
        </p:nvSpPr>
        <p:spPr>
          <a:xfrm>
            <a:off x="5193792" y="3712464"/>
            <a:ext cx="3419856" cy="402336"/>
          </a:xfrm>
          <a:prstGeom prst="rect">
            <a:avLst/>
          </a:prstGeom>
          <a:noFill/>
          <a:ln/>
        </p:spPr>
        <p:txBody>
          <a:bodyPr wrap="square" lIns="0" tIns="0" rIns="0" bIns="0" rtlCol="0" anchor="ctr"/>
          <a:lstStyle/>
          <a:p>
            <a:pPr marL="0" indent="0">
              <a:buNone/>
            </a:pPr>
            <a:r>
              <a:rPr lang="en-US" sz="800" dirty="0">
                <a:solidFill>
                  <a:srgbClr val="1A4731"/>
                </a:solidFill>
              </a:rPr>
              <a:t>✅  DS team builds the next model</a:t>
            </a:r>
            <a:endParaRPr lang="en-US" sz="800" dirty="0"/>
          </a:p>
          <a:p>
            <a:pPr marL="0" indent="0">
              <a:buNone/>
            </a:pPr>
            <a:r>
              <a:rPr lang="en-US" sz="800" dirty="0">
                <a:solidFill>
                  <a:srgbClr val="1A4731"/>
                </a:solidFill>
              </a:rPr>
              <a:t>Not answering Slack messages</a:t>
            </a:r>
            <a:endParaRPr lang="en-US" sz="800" dirty="0"/>
          </a:p>
        </p:txBody>
      </p:sp>
      <p:sp>
        <p:nvSpPr>
          <p:cNvPr id="33" name="Shape 31"/>
          <p:cNvSpPr/>
          <p:nvPr/>
        </p:nvSpPr>
        <p:spPr>
          <a:xfrm>
            <a:off x="274320" y="4709160"/>
            <a:ext cx="8595360" cy="347472"/>
          </a:xfrm>
          <a:prstGeom prst="roundRect">
            <a:avLst>
              <a:gd name="adj" fmla="val 21053"/>
            </a:avLst>
          </a:prstGeom>
          <a:solidFill>
            <a:srgbClr val="0D3B66"/>
          </a:solidFill>
          <a:ln w="12700">
            <a:solidFill>
              <a:srgbClr val="0D3B66"/>
            </a:solidFill>
            <a:prstDash val="solid"/>
          </a:ln>
        </p:spPr>
        <p:txBody>
          <a:bodyPr/>
          <a:lstStyle/>
          <a:p>
            <a:endParaRPr lang="en-US"/>
          </a:p>
        </p:txBody>
      </p:sp>
      <p:sp>
        <p:nvSpPr>
          <p:cNvPr id="34" name="Text 32"/>
          <p:cNvSpPr/>
          <p:nvPr/>
        </p:nvSpPr>
        <p:spPr>
          <a:xfrm>
            <a:off x="365760" y="4727448"/>
            <a:ext cx="2103120" cy="310896"/>
          </a:xfrm>
          <a:prstGeom prst="rect">
            <a:avLst/>
          </a:prstGeom>
          <a:noFill/>
          <a:ln/>
        </p:spPr>
        <p:txBody>
          <a:bodyPr wrap="square" lIns="0" tIns="0" rIns="0" bIns="0" rtlCol="0" anchor="ctr"/>
          <a:lstStyle/>
          <a:p>
            <a:pPr marL="0" indent="0">
              <a:buNone/>
            </a:pPr>
            <a:r>
              <a:rPr lang="en-US" sz="750" b="1" dirty="0">
                <a:solidFill>
                  <a:srgbClr val="FFFFFF"/>
                </a:solidFill>
              </a:rPr>
              <a:t>⚡ Insight to action: 2 weeks → 30 seconds</a:t>
            </a:r>
            <a:endParaRPr lang="en-US" sz="750" dirty="0"/>
          </a:p>
        </p:txBody>
      </p:sp>
      <p:sp>
        <p:nvSpPr>
          <p:cNvPr id="35" name="Text 33"/>
          <p:cNvSpPr/>
          <p:nvPr/>
        </p:nvSpPr>
        <p:spPr>
          <a:xfrm>
            <a:off x="2542032" y="4727448"/>
            <a:ext cx="2103120" cy="310896"/>
          </a:xfrm>
          <a:prstGeom prst="rect">
            <a:avLst/>
          </a:prstGeom>
          <a:noFill/>
          <a:ln/>
        </p:spPr>
        <p:txBody>
          <a:bodyPr wrap="square" lIns="0" tIns="0" rIns="0" bIns="0" rtlCol="0" anchor="ctr"/>
          <a:lstStyle/>
          <a:p>
            <a:pPr marL="0" indent="0">
              <a:buNone/>
            </a:pPr>
            <a:r>
              <a:rPr lang="en-US" sz="750" dirty="0">
                <a:solidFill>
                  <a:srgbClr val="FFFFFF"/>
                </a:solidFill>
              </a:rPr>
              <a:t>👥 Every team accesses the same model</a:t>
            </a:r>
            <a:endParaRPr lang="en-US" sz="750" dirty="0"/>
          </a:p>
        </p:txBody>
      </p:sp>
      <p:sp>
        <p:nvSpPr>
          <p:cNvPr id="36" name="Text 34"/>
          <p:cNvSpPr/>
          <p:nvPr/>
        </p:nvSpPr>
        <p:spPr>
          <a:xfrm>
            <a:off x="4718304" y="4727448"/>
            <a:ext cx="2103120" cy="310896"/>
          </a:xfrm>
          <a:prstGeom prst="rect">
            <a:avLst/>
          </a:prstGeom>
          <a:noFill/>
          <a:ln/>
        </p:spPr>
        <p:txBody>
          <a:bodyPr wrap="square" lIns="0" tIns="0" rIns="0" bIns="0" rtlCol="0" anchor="ctr"/>
          <a:lstStyle/>
          <a:p>
            <a:pPr marL="0" indent="0">
              <a:buNone/>
            </a:pPr>
            <a:r>
              <a:rPr lang="en-US" sz="750" dirty="0">
                <a:solidFill>
                  <a:srgbClr val="FFFFFF"/>
                </a:solidFill>
              </a:rPr>
              <a:t>💰 DS team focused on building, not answering</a:t>
            </a:r>
            <a:endParaRPr lang="en-US" sz="750" dirty="0"/>
          </a:p>
        </p:txBody>
      </p:sp>
      <p:sp>
        <p:nvSpPr>
          <p:cNvPr id="37" name="Text 35"/>
          <p:cNvSpPr/>
          <p:nvPr/>
        </p:nvSpPr>
        <p:spPr>
          <a:xfrm>
            <a:off x="6894576" y="4727448"/>
            <a:ext cx="2103120" cy="310896"/>
          </a:xfrm>
          <a:prstGeom prst="rect">
            <a:avLst/>
          </a:prstGeom>
          <a:noFill/>
          <a:ln/>
        </p:spPr>
        <p:txBody>
          <a:bodyPr wrap="square" lIns="0" tIns="0" rIns="0" bIns="0" rtlCol="0" anchor="ctr"/>
          <a:lstStyle/>
          <a:p>
            <a:pPr marL="0" indent="0">
              <a:buNone/>
            </a:pPr>
            <a:r>
              <a:rPr lang="en-US" sz="750" dirty="0">
                <a:solidFill>
                  <a:srgbClr val="FFFFFF"/>
                </a:solidFill>
              </a:rPr>
              <a:t>📈 Customers contacted before they leave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3B66"/>
          </a:solidFill>
          <a:ln w="12700">
            <a:solidFill>
              <a:srgbClr val="0D3B66"/>
            </a:solidFill>
            <a:prstDash val="solid"/>
          </a:ln>
        </p:spPr>
        <p:txBody>
          <a:bodyPr/>
          <a:lstStyle/>
          <a:p>
            <a:endParaRPr lang="en-US"/>
          </a:p>
        </p:txBody>
      </p:sp>
      <p:sp>
        <p:nvSpPr>
          <p:cNvPr id="3" name="Text 1"/>
          <p:cNvSpPr/>
          <p:nvPr/>
        </p:nvSpPr>
        <p:spPr>
          <a:xfrm>
            <a:off x="365760" y="0"/>
            <a:ext cx="7315200" cy="566928"/>
          </a:xfrm>
          <a:prstGeom prst="rect">
            <a:avLst/>
          </a:prstGeom>
          <a:noFill/>
          <a:ln/>
        </p:spPr>
        <p:txBody>
          <a:bodyPr wrap="square" lIns="0" tIns="0" rIns="0" bIns="0" rtlCol="0" anchor="ctr"/>
          <a:lstStyle/>
          <a:p>
            <a:pPr marL="0" indent="0">
              <a:buNone/>
            </a:pPr>
            <a:r>
              <a:rPr lang="en-US" sz="2400" b="1" dirty="0">
                <a:solidFill>
                  <a:srgbClr val="FFFFFF"/>
                </a:solidFill>
              </a:rPr>
              <a:t>How It Works</a:t>
            </a:r>
            <a:endParaRPr lang="en-US" sz="2400" dirty="0"/>
          </a:p>
        </p:txBody>
      </p:sp>
      <p:sp>
        <p:nvSpPr>
          <p:cNvPr id="4" name="Text 2"/>
          <p:cNvSpPr/>
          <p:nvPr/>
        </p:nvSpPr>
        <p:spPr>
          <a:xfrm>
            <a:off x="365760" y="530352"/>
            <a:ext cx="8229600" cy="182880"/>
          </a:xfrm>
          <a:prstGeom prst="rect">
            <a:avLst/>
          </a:prstGeom>
          <a:noFill/>
          <a:ln/>
        </p:spPr>
        <p:txBody>
          <a:bodyPr wrap="square" lIns="0" tIns="0" rIns="0" bIns="0" rtlCol="0" anchor="ctr"/>
          <a:lstStyle/>
          <a:p>
            <a:pPr marL="0" indent="0">
              <a:buNone/>
            </a:pPr>
            <a:r>
              <a:rPr lang="en-US" sz="850" dirty="0">
                <a:solidFill>
                  <a:srgbClr val="A8C4E0"/>
                </a:solidFill>
              </a:rPr>
              <a:t>Bank Churn Intelligence System  ·  Key Concepts</a:t>
            </a:r>
            <a:endParaRPr lang="en-US" sz="850" dirty="0"/>
          </a:p>
        </p:txBody>
      </p:sp>
      <p:sp>
        <p:nvSpPr>
          <p:cNvPr id="5" name="Shape 3"/>
          <p:cNvSpPr/>
          <p:nvPr/>
        </p:nvSpPr>
        <p:spPr>
          <a:xfrm>
            <a:off x="274320" y="868680"/>
            <a:ext cx="8595360" cy="1024128"/>
          </a:xfrm>
          <a:prstGeom prst="roundRect">
            <a:avLst>
              <a:gd name="adj" fmla="val 8929"/>
            </a:avLst>
          </a:prstGeom>
          <a:solidFill>
            <a:srgbClr val="F0FFF4"/>
          </a:solidFill>
          <a:ln w="15240">
            <a:solidFill>
              <a:srgbClr val="27AE60"/>
            </a:solidFill>
            <a:prstDash val="solid"/>
          </a:ln>
          <a:effectLst>
            <a:outerShdw blurRad="50800" dist="25400" dir="2700000" algn="bl" rotWithShape="0">
              <a:srgbClr val="000000">
                <a:alpha val="7000"/>
              </a:srgbClr>
            </a:outerShdw>
          </a:effectLst>
        </p:spPr>
        <p:txBody>
          <a:bodyPr/>
          <a:lstStyle/>
          <a:p>
            <a:endParaRPr lang="en-US"/>
          </a:p>
        </p:txBody>
      </p:sp>
      <p:sp>
        <p:nvSpPr>
          <p:cNvPr id="6" name="Shape 4"/>
          <p:cNvSpPr/>
          <p:nvPr/>
        </p:nvSpPr>
        <p:spPr>
          <a:xfrm>
            <a:off x="384048" y="960120"/>
            <a:ext cx="292608" cy="292608"/>
          </a:xfrm>
          <a:prstGeom prst="roundRect">
            <a:avLst>
              <a:gd name="adj" fmla="val 18750"/>
            </a:avLst>
          </a:prstGeom>
          <a:solidFill>
            <a:srgbClr val="27AE60"/>
          </a:solidFill>
          <a:ln w="12700">
            <a:solidFill>
              <a:srgbClr val="27AE60"/>
            </a:solidFill>
            <a:prstDash val="solid"/>
          </a:ln>
        </p:spPr>
        <p:txBody>
          <a:bodyPr/>
          <a:lstStyle/>
          <a:p>
            <a:endParaRPr lang="en-US"/>
          </a:p>
        </p:txBody>
      </p:sp>
      <p:sp>
        <p:nvSpPr>
          <p:cNvPr id="7" name="Text 5"/>
          <p:cNvSpPr/>
          <p:nvPr/>
        </p:nvSpPr>
        <p:spPr>
          <a:xfrm>
            <a:off x="384048" y="96012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①</a:t>
            </a:r>
            <a:endParaRPr lang="en-US" sz="1000" dirty="0"/>
          </a:p>
        </p:txBody>
      </p:sp>
      <p:sp>
        <p:nvSpPr>
          <p:cNvPr id="8" name="Text 6"/>
          <p:cNvSpPr/>
          <p:nvPr/>
        </p:nvSpPr>
        <p:spPr>
          <a:xfrm>
            <a:off x="749808" y="960120"/>
            <a:ext cx="7955280" cy="292608"/>
          </a:xfrm>
          <a:prstGeom prst="rect">
            <a:avLst/>
          </a:prstGeom>
          <a:noFill/>
          <a:ln/>
        </p:spPr>
        <p:txBody>
          <a:bodyPr wrap="square" lIns="0" tIns="0" rIns="0" bIns="0" rtlCol="0" anchor="ctr"/>
          <a:lstStyle/>
          <a:p>
            <a:pPr marL="0" indent="0">
              <a:buNone/>
            </a:pPr>
            <a:r>
              <a:rPr lang="en-US" sz="1000" b="1" dirty="0">
                <a:solidFill>
                  <a:srgbClr val="1E8449"/>
                </a:solidFill>
              </a:rPr>
              <a:t>ANALYST asks a question</a:t>
            </a:r>
            <a:endParaRPr lang="en-US" sz="1000" dirty="0"/>
          </a:p>
        </p:txBody>
      </p:sp>
      <p:sp>
        <p:nvSpPr>
          <p:cNvPr id="9" name="Text 7"/>
          <p:cNvSpPr/>
          <p:nvPr/>
        </p:nvSpPr>
        <p:spPr>
          <a:xfrm>
            <a:off x="384048" y="1289304"/>
            <a:ext cx="8229600" cy="292608"/>
          </a:xfrm>
          <a:prstGeom prst="rect">
            <a:avLst/>
          </a:prstGeom>
          <a:noFill/>
          <a:ln/>
        </p:spPr>
        <p:txBody>
          <a:bodyPr wrap="square" lIns="0" tIns="0" rIns="0" bIns="0" rtlCol="0" anchor="t"/>
          <a:lstStyle/>
          <a:p>
            <a:pPr marL="0" indent="0">
              <a:buNone/>
            </a:pPr>
            <a:r>
              <a:rPr lang="en-US" sz="850" dirty="0">
                <a:solidFill>
                  <a:srgbClr val="374151"/>
                </a:solidFill>
              </a:rPr>
              <a:t>Types in plain English through a Streamlit web app hosted on your intranet. No SQL. No training required. Any team can use it.</a:t>
            </a:r>
            <a:endParaRPr lang="en-US" sz="850" dirty="0"/>
          </a:p>
        </p:txBody>
      </p:sp>
      <p:sp>
        <p:nvSpPr>
          <p:cNvPr id="10" name="Text 8"/>
          <p:cNvSpPr/>
          <p:nvPr/>
        </p:nvSpPr>
        <p:spPr>
          <a:xfrm>
            <a:off x="384048" y="1581912"/>
            <a:ext cx="8229600" cy="237744"/>
          </a:xfrm>
          <a:prstGeom prst="rect">
            <a:avLst/>
          </a:prstGeom>
          <a:noFill/>
          <a:ln/>
        </p:spPr>
        <p:txBody>
          <a:bodyPr wrap="square" lIns="0" tIns="0" rIns="0" bIns="0" rtlCol="0" anchor="t"/>
          <a:lstStyle/>
          <a:p>
            <a:pPr marL="0" indent="0">
              <a:buNone/>
            </a:pPr>
            <a:r>
              <a:rPr lang="en-US" sz="750" i="1" dirty="0">
                <a:solidFill>
                  <a:srgbClr val="6B7280"/>
                </a:solidFill>
              </a:rPr>
              <a:t>"Which customers should my team call this week and what should we say to each one?"</a:t>
            </a:r>
            <a:endParaRPr lang="en-US" sz="750" dirty="0"/>
          </a:p>
        </p:txBody>
      </p:sp>
      <p:sp>
        <p:nvSpPr>
          <p:cNvPr id="11" name="Shape 9"/>
          <p:cNvSpPr/>
          <p:nvPr/>
        </p:nvSpPr>
        <p:spPr>
          <a:xfrm>
            <a:off x="4526280" y="1892808"/>
            <a:ext cx="0" cy="137160"/>
          </a:xfrm>
          <a:prstGeom prst="line">
            <a:avLst/>
          </a:prstGeom>
          <a:noFill/>
          <a:ln w="19050">
            <a:solidFill>
              <a:srgbClr val="9CA3AF"/>
            </a:solidFill>
            <a:prstDash val="solid"/>
          </a:ln>
        </p:spPr>
        <p:txBody>
          <a:bodyPr/>
          <a:lstStyle/>
          <a:p>
            <a:endParaRPr lang="en-US"/>
          </a:p>
        </p:txBody>
      </p:sp>
      <p:sp>
        <p:nvSpPr>
          <p:cNvPr id="12" name="Shape 10"/>
          <p:cNvSpPr/>
          <p:nvPr/>
        </p:nvSpPr>
        <p:spPr>
          <a:xfrm>
            <a:off x="274320" y="2029968"/>
            <a:ext cx="8595360" cy="1024128"/>
          </a:xfrm>
          <a:prstGeom prst="roundRect">
            <a:avLst>
              <a:gd name="adj" fmla="val 8929"/>
            </a:avLst>
          </a:prstGeom>
          <a:solidFill>
            <a:srgbClr val="EEF4FF"/>
          </a:solidFill>
          <a:ln w="15240">
            <a:solidFill>
              <a:srgbClr val="3B82F6"/>
            </a:solidFill>
            <a:prstDash val="solid"/>
          </a:ln>
          <a:effectLst>
            <a:outerShdw blurRad="50800" dist="25400" dir="2700000" algn="bl" rotWithShape="0">
              <a:srgbClr val="000000">
                <a:alpha val="7000"/>
              </a:srgbClr>
            </a:outerShdw>
          </a:effectLst>
        </p:spPr>
        <p:txBody>
          <a:bodyPr/>
          <a:lstStyle/>
          <a:p>
            <a:endParaRPr lang="en-US"/>
          </a:p>
        </p:txBody>
      </p:sp>
      <p:sp>
        <p:nvSpPr>
          <p:cNvPr id="13" name="Shape 11"/>
          <p:cNvSpPr/>
          <p:nvPr/>
        </p:nvSpPr>
        <p:spPr>
          <a:xfrm>
            <a:off x="384048" y="2121408"/>
            <a:ext cx="292608" cy="292608"/>
          </a:xfrm>
          <a:prstGeom prst="roundRect">
            <a:avLst>
              <a:gd name="adj" fmla="val 18750"/>
            </a:avLst>
          </a:prstGeom>
          <a:solidFill>
            <a:srgbClr val="3B82F6"/>
          </a:solidFill>
          <a:ln w="12700">
            <a:solidFill>
              <a:srgbClr val="3B82F6"/>
            </a:solidFill>
            <a:prstDash val="solid"/>
          </a:ln>
        </p:spPr>
        <p:txBody>
          <a:bodyPr/>
          <a:lstStyle/>
          <a:p>
            <a:endParaRPr lang="en-US"/>
          </a:p>
        </p:txBody>
      </p:sp>
      <p:sp>
        <p:nvSpPr>
          <p:cNvPr id="14" name="Text 12"/>
          <p:cNvSpPr/>
          <p:nvPr/>
        </p:nvSpPr>
        <p:spPr>
          <a:xfrm>
            <a:off x="384048" y="212140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②</a:t>
            </a:r>
            <a:endParaRPr lang="en-US" sz="1000" dirty="0"/>
          </a:p>
        </p:txBody>
      </p:sp>
      <p:sp>
        <p:nvSpPr>
          <p:cNvPr id="15" name="Text 13"/>
          <p:cNvSpPr/>
          <p:nvPr/>
        </p:nvSpPr>
        <p:spPr>
          <a:xfrm>
            <a:off x="749808" y="2121408"/>
            <a:ext cx="7955280" cy="292608"/>
          </a:xfrm>
          <a:prstGeom prst="rect">
            <a:avLst/>
          </a:prstGeom>
          <a:noFill/>
          <a:ln/>
        </p:spPr>
        <p:txBody>
          <a:bodyPr wrap="square" lIns="0" tIns="0" rIns="0" bIns="0" rtlCol="0" anchor="ctr"/>
          <a:lstStyle/>
          <a:p>
            <a:pPr marL="0" indent="0">
              <a:buNone/>
            </a:pPr>
            <a:r>
              <a:rPr lang="en-US" sz="1000" b="1" dirty="0">
                <a:solidFill>
                  <a:srgbClr val="1A40A0"/>
                </a:solidFill>
              </a:rPr>
              <a:t>REASONING AGENT decides what to look up</a:t>
            </a:r>
            <a:endParaRPr lang="en-US" sz="1000" dirty="0"/>
          </a:p>
        </p:txBody>
      </p:sp>
      <p:sp>
        <p:nvSpPr>
          <p:cNvPr id="16" name="Text 14"/>
          <p:cNvSpPr/>
          <p:nvPr/>
        </p:nvSpPr>
        <p:spPr>
          <a:xfrm>
            <a:off x="384048" y="2450592"/>
            <a:ext cx="8229600" cy="292608"/>
          </a:xfrm>
          <a:prstGeom prst="rect">
            <a:avLst/>
          </a:prstGeom>
          <a:noFill/>
          <a:ln/>
        </p:spPr>
        <p:txBody>
          <a:bodyPr wrap="square" lIns="0" tIns="0" rIns="0" bIns="0" rtlCol="0" anchor="t"/>
          <a:lstStyle/>
          <a:p>
            <a:pPr marL="0" indent="0">
              <a:buNone/>
            </a:pPr>
            <a:r>
              <a:rPr lang="en-US" sz="850" dirty="0">
                <a:solidFill>
                  <a:srgbClr val="374151"/>
                </a:solidFill>
              </a:rPr>
              <a:t>GPT-4o-mini reads the question, decides which tools to call, calls them, and synthesizes one plain-English answer. It never makes up numbers. Every answer comes from the actual model.</a:t>
            </a:r>
            <a:endParaRPr lang="en-US" sz="850" dirty="0"/>
          </a:p>
        </p:txBody>
      </p:sp>
      <p:sp>
        <p:nvSpPr>
          <p:cNvPr id="17" name="Text 15"/>
          <p:cNvSpPr/>
          <p:nvPr/>
        </p:nvSpPr>
        <p:spPr>
          <a:xfrm>
            <a:off x="384048" y="2743200"/>
            <a:ext cx="8229600" cy="237744"/>
          </a:xfrm>
          <a:prstGeom prst="rect">
            <a:avLst/>
          </a:prstGeom>
          <a:noFill/>
          <a:ln/>
        </p:spPr>
        <p:txBody>
          <a:bodyPr wrap="square" lIns="0" tIns="0" rIns="0" bIns="0" rtlCol="0" anchor="t"/>
          <a:lstStyle/>
          <a:p>
            <a:pPr marL="0" indent="0">
              <a:buNone/>
            </a:pPr>
            <a:r>
              <a:rPr lang="en-US" sz="750" i="1" dirty="0">
                <a:solidFill>
                  <a:srgbClr val="6B7280"/>
                </a:solidFill>
              </a:rPr>
              <a:t>Calls: get_high_risk_customers() · get_churn_drivers() · predict_churn(customer)</a:t>
            </a:r>
            <a:endParaRPr lang="en-US" sz="750" dirty="0"/>
          </a:p>
        </p:txBody>
      </p:sp>
      <p:sp>
        <p:nvSpPr>
          <p:cNvPr id="18" name="Shape 16"/>
          <p:cNvSpPr/>
          <p:nvPr/>
        </p:nvSpPr>
        <p:spPr>
          <a:xfrm>
            <a:off x="4526280" y="3054096"/>
            <a:ext cx="0" cy="137160"/>
          </a:xfrm>
          <a:prstGeom prst="line">
            <a:avLst/>
          </a:prstGeom>
          <a:noFill/>
          <a:ln w="19050">
            <a:solidFill>
              <a:srgbClr val="9CA3AF"/>
            </a:solidFill>
            <a:prstDash val="solid"/>
          </a:ln>
        </p:spPr>
        <p:txBody>
          <a:bodyPr/>
          <a:lstStyle/>
          <a:p>
            <a:endParaRPr lang="en-US"/>
          </a:p>
        </p:txBody>
      </p:sp>
      <p:sp>
        <p:nvSpPr>
          <p:cNvPr id="19" name="Shape 17"/>
          <p:cNvSpPr/>
          <p:nvPr/>
        </p:nvSpPr>
        <p:spPr>
          <a:xfrm>
            <a:off x="274320" y="3191256"/>
            <a:ext cx="8595360" cy="1024128"/>
          </a:xfrm>
          <a:prstGeom prst="roundRect">
            <a:avLst>
              <a:gd name="adj" fmla="val 8929"/>
            </a:avLst>
          </a:prstGeom>
          <a:solidFill>
            <a:srgbClr val="FFFBEA"/>
          </a:solidFill>
          <a:ln w="15240">
            <a:solidFill>
              <a:srgbClr val="F59E0B"/>
            </a:solidFill>
            <a:prstDash val="solid"/>
          </a:ln>
          <a:effectLst>
            <a:outerShdw blurRad="50800" dist="25400" dir="2700000" algn="bl" rotWithShape="0">
              <a:srgbClr val="000000">
                <a:alpha val="7000"/>
              </a:srgbClr>
            </a:outerShdw>
          </a:effectLst>
        </p:spPr>
        <p:txBody>
          <a:bodyPr/>
          <a:lstStyle/>
          <a:p>
            <a:endParaRPr lang="en-US"/>
          </a:p>
        </p:txBody>
      </p:sp>
      <p:sp>
        <p:nvSpPr>
          <p:cNvPr id="20" name="Shape 18"/>
          <p:cNvSpPr/>
          <p:nvPr/>
        </p:nvSpPr>
        <p:spPr>
          <a:xfrm>
            <a:off x="384048" y="3282696"/>
            <a:ext cx="292608" cy="292608"/>
          </a:xfrm>
          <a:prstGeom prst="roundRect">
            <a:avLst>
              <a:gd name="adj" fmla="val 18750"/>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384048" y="32826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③</a:t>
            </a:r>
            <a:endParaRPr lang="en-US" sz="1000" dirty="0"/>
          </a:p>
        </p:txBody>
      </p:sp>
      <p:sp>
        <p:nvSpPr>
          <p:cNvPr id="22" name="Text 20"/>
          <p:cNvSpPr/>
          <p:nvPr/>
        </p:nvSpPr>
        <p:spPr>
          <a:xfrm>
            <a:off x="749808" y="3282696"/>
            <a:ext cx="7955280" cy="292608"/>
          </a:xfrm>
          <a:prstGeom prst="rect">
            <a:avLst/>
          </a:prstGeom>
          <a:noFill/>
          <a:ln/>
        </p:spPr>
        <p:txBody>
          <a:bodyPr wrap="square" lIns="0" tIns="0" rIns="0" bIns="0" rtlCol="0" anchor="ctr"/>
          <a:lstStyle/>
          <a:p>
            <a:pPr marL="0" indent="0">
              <a:buNone/>
            </a:pPr>
            <a:r>
              <a:rPr lang="en-US" sz="1000" b="1" dirty="0">
                <a:solidFill>
                  <a:srgbClr val="92400E"/>
                </a:solidFill>
              </a:rPr>
              <a:t>ML PIPELINE runs the actual prediction</a:t>
            </a:r>
            <a:endParaRPr lang="en-US" sz="1000" dirty="0"/>
          </a:p>
        </p:txBody>
      </p:sp>
      <p:sp>
        <p:nvSpPr>
          <p:cNvPr id="23" name="Text 21"/>
          <p:cNvSpPr/>
          <p:nvPr/>
        </p:nvSpPr>
        <p:spPr>
          <a:xfrm>
            <a:off x="384048" y="3611880"/>
            <a:ext cx="8229600" cy="292608"/>
          </a:xfrm>
          <a:prstGeom prst="rect">
            <a:avLst/>
          </a:prstGeom>
          <a:noFill/>
          <a:ln/>
        </p:spPr>
        <p:txBody>
          <a:bodyPr wrap="square" lIns="0" tIns="0" rIns="0" bIns="0" rtlCol="0" anchor="t"/>
          <a:lstStyle/>
          <a:p>
            <a:pPr marL="0" indent="0">
              <a:buNone/>
            </a:pPr>
            <a:r>
              <a:rPr lang="en-US" sz="850" dirty="0">
                <a:solidFill>
                  <a:srgbClr val="374151"/>
                </a:solidFill>
              </a:rPr>
              <a:t>Random Forest trained on 10,000 customers. ROC-AUC 0.8503. Identifies 1,425 high-risk customers. Trains once at startup. Same model answers every question.</a:t>
            </a:r>
            <a:endParaRPr lang="en-US" sz="850" dirty="0"/>
          </a:p>
        </p:txBody>
      </p:sp>
      <p:sp>
        <p:nvSpPr>
          <p:cNvPr id="24" name="Text 22"/>
          <p:cNvSpPr/>
          <p:nvPr/>
        </p:nvSpPr>
        <p:spPr>
          <a:xfrm>
            <a:off x="384048" y="3904488"/>
            <a:ext cx="8229600" cy="237744"/>
          </a:xfrm>
          <a:prstGeom prst="rect">
            <a:avLst/>
          </a:prstGeom>
          <a:noFill/>
          <a:ln/>
        </p:spPr>
        <p:txBody>
          <a:bodyPr wrap="square" lIns="0" tIns="0" rIns="0" bIns="0" rtlCol="0" anchor="t"/>
          <a:lstStyle/>
          <a:p>
            <a:pPr marL="0" indent="0">
              <a:buNone/>
            </a:pPr>
            <a:r>
              <a:rPr lang="en-US" sz="750" i="1" dirty="0">
                <a:solidFill>
                  <a:srgbClr val="6B7280"/>
                </a:solidFill>
              </a:rPr>
              <a:t>Ingestion → EDA → Random Forest → Feature Importance → Churn Probability per customer</a:t>
            </a:r>
            <a:endParaRPr lang="en-US" sz="750" dirty="0"/>
          </a:p>
        </p:txBody>
      </p:sp>
      <p:sp>
        <p:nvSpPr>
          <p:cNvPr id="25" name="Shape 23"/>
          <p:cNvSpPr/>
          <p:nvPr/>
        </p:nvSpPr>
        <p:spPr>
          <a:xfrm>
            <a:off x="274320" y="4343400"/>
            <a:ext cx="8595360" cy="658368"/>
          </a:xfrm>
          <a:prstGeom prst="roundRect">
            <a:avLst>
              <a:gd name="adj" fmla="val 11111"/>
            </a:avLst>
          </a:prstGeom>
          <a:solidFill>
            <a:srgbClr val="F8FAFC"/>
          </a:solidFill>
          <a:ln w="10160">
            <a:solidFill>
              <a:srgbClr val="E2E8F0"/>
            </a:solidFill>
            <a:prstDash val="solid"/>
          </a:ln>
        </p:spPr>
        <p:txBody>
          <a:bodyPr/>
          <a:lstStyle/>
          <a:p>
            <a:endParaRPr lang="en-US"/>
          </a:p>
        </p:txBody>
      </p:sp>
      <p:sp>
        <p:nvSpPr>
          <p:cNvPr id="26" name="Text 24"/>
          <p:cNvSpPr/>
          <p:nvPr/>
        </p:nvSpPr>
        <p:spPr>
          <a:xfrm>
            <a:off x="457200" y="4389120"/>
            <a:ext cx="1097280" cy="182880"/>
          </a:xfrm>
          <a:prstGeom prst="rect">
            <a:avLst/>
          </a:prstGeom>
          <a:noFill/>
          <a:ln/>
        </p:spPr>
        <p:txBody>
          <a:bodyPr wrap="square" lIns="0" tIns="0" rIns="0" bIns="0" rtlCol="0" anchor="ctr"/>
          <a:lstStyle/>
          <a:p>
            <a:pPr marL="0" indent="0">
              <a:buNone/>
            </a:pPr>
            <a:r>
              <a:rPr lang="en-US" sz="750" b="1" kern="0" spc="150" dirty="0">
                <a:solidFill>
                  <a:srgbClr val="64748B"/>
                </a:solidFill>
              </a:rPr>
              <a:t>KEY TERMS</a:t>
            </a:r>
            <a:endParaRPr lang="en-US" sz="750" dirty="0"/>
          </a:p>
        </p:txBody>
      </p:sp>
      <p:sp>
        <p:nvSpPr>
          <p:cNvPr id="27" name="Text 25"/>
          <p:cNvSpPr/>
          <p:nvPr/>
        </p:nvSpPr>
        <p:spPr>
          <a:xfrm>
            <a:off x="411480" y="4572000"/>
            <a:ext cx="2011680" cy="182880"/>
          </a:xfrm>
          <a:prstGeom prst="rect">
            <a:avLst/>
          </a:prstGeom>
          <a:noFill/>
          <a:ln/>
        </p:spPr>
        <p:txBody>
          <a:bodyPr wrap="square" lIns="0" tIns="0" rIns="0" bIns="0" rtlCol="0" anchor="ctr"/>
          <a:lstStyle/>
          <a:p>
            <a:pPr marL="0" indent="0">
              <a:buNone/>
            </a:pPr>
            <a:r>
              <a:rPr lang="en-US" sz="800" b="1" dirty="0">
                <a:solidFill>
                  <a:srgbClr val="0D3B66"/>
                </a:solidFill>
              </a:rPr>
              <a:t>LangGraph</a:t>
            </a:r>
            <a:endParaRPr lang="en-US" sz="800" dirty="0"/>
          </a:p>
        </p:txBody>
      </p:sp>
      <p:sp>
        <p:nvSpPr>
          <p:cNvPr id="28" name="Text 26"/>
          <p:cNvSpPr/>
          <p:nvPr/>
        </p:nvSpPr>
        <p:spPr>
          <a:xfrm>
            <a:off x="411480" y="4754880"/>
            <a:ext cx="2011680" cy="201168"/>
          </a:xfrm>
          <a:prstGeom prst="rect">
            <a:avLst/>
          </a:prstGeom>
          <a:noFill/>
          <a:ln/>
        </p:spPr>
        <p:txBody>
          <a:bodyPr wrap="square" lIns="0" tIns="0" rIns="0" bIns="0" rtlCol="0" anchor="ctr"/>
          <a:lstStyle/>
          <a:p>
            <a:pPr marL="0" indent="0">
              <a:buNone/>
            </a:pPr>
            <a:r>
              <a:rPr lang="en-US" sz="750" dirty="0">
                <a:solidFill>
                  <a:srgbClr val="64748B"/>
                </a:solidFill>
              </a:rPr>
              <a:t>Manages the pipeline flow with conditional routing</a:t>
            </a:r>
            <a:endParaRPr lang="en-US" sz="750" dirty="0"/>
          </a:p>
        </p:txBody>
      </p:sp>
      <p:sp>
        <p:nvSpPr>
          <p:cNvPr id="29" name="Text 27"/>
          <p:cNvSpPr/>
          <p:nvPr/>
        </p:nvSpPr>
        <p:spPr>
          <a:xfrm>
            <a:off x="2560320" y="4572000"/>
            <a:ext cx="2011680" cy="182880"/>
          </a:xfrm>
          <a:prstGeom prst="rect">
            <a:avLst/>
          </a:prstGeom>
          <a:noFill/>
          <a:ln/>
        </p:spPr>
        <p:txBody>
          <a:bodyPr wrap="square" lIns="0" tIns="0" rIns="0" bIns="0" rtlCol="0" anchor="ctr"/>
          <a:lstStyle/>
          <a:p>
            <a:pPr marL="0" indent="0">
              <a:buNone/>
            </a:pPr>
            <a:r>
              <a:rPr lang="en-US" sz="800" b="1" dirty="0">
                <a:solidFill>
                  <a:srgbClr val="0D3B66"/>
                </a:solidFill>
              </a:rPr>
              <a:t>LangChain</a:t>
            </a:r>
            <a:endParaRPr lang="en-US" sz="800" dirty="0"/>
          </a:p>
        </p:txBody>
      </p:sp>
      <p:sp>
        <p:nvSpPr>
          <p:cNvPr id="30" name="Text 28"/>
          <p:cNvSpPr/>
          <p:nvPr/>
        </p:nvSpPr>
        <p:spPr>
          <a:xfrm>
            <a:off x="2560320" y="4754880"/>
            <a:ext cx="2011680" cy="201168"/>
          </a:xfrm>
          <a:prstGeom prst="rect">
            <a:avLst/>
          </a:prstGeom>
          <a:noFill/>
          <a:ln/>
        </p:spPr>
        <p:txBody>
          <a:bodyPr wrap="square" lIns="0" tIns="0" rIns="0" bIns="0" rtlCol="0" anchor="ctr"/>
          <a:lstStyle/>
          <a:p>
            <a:pPr marL="0" indent="0">
              <a:buNone/>
            </a:pPr>
            <a:r>
              <a:rPr lang="en-US" sz="750" dirty="0">
                <a:solidFill>
                  <a:srgbClr val="64748B"/>
                </a:solidFill>
              </a:rPr>
              <a:t>Connects the AI to the tools it can call</a:t>
            </a:r>
            <a:endParaRPr lang="en-US" sz="750" dirty="0"/>
          </a:p>
        </p:txBody>
      </p:sp>
      <p:sp>
        <p:nvSpPr>
          <p:cNvPr id="31" name="Text 29"/>
          <p:cNvSpPr/>
          <p:nvPr/>
        </p:nvSpPr>
        <p:spPr>
          <a:xfrm>
            <a:off x="4709160" y="4572000"/>
            <a:ext cx="2011680" cy="182880"/>
          </a:xfrm>
          <a:prstGeom prst="rect">
            <a:avLst/>
          </a:prstGeom>
          <a:noFill/>
          <a:ln/>
        </p:spPr>
        <p:txBody>
          <a:bodyPr wrap="square" lIns="0" tIns="0" rIns="0" bIns="0" rtlCol="0" anchor="ctr"/>
          <a:lstStyle/>
          <a:p>
            <a:pPr marL="0" indent="0">
              <a:buNone/>
            </a:pPr>
            <a:r>
              <a:rPr lang="en-US" sz="800" b="1" dirty="0">
                <a:solidFill>
                  <a:srgbClr val="0D3B66"/>
                </a:solidFill>
              </a:rPr>
              <a:t>ROC-AUC 0.85</a:t>
            </a:r>
            <a:endParaRPr lang="en-US" sz="800" dirty="0"/>
          </a:p>
        </p:txBody>
      </p:sp>
      <p:sp>
        <p:nvSpPr>
          <p:cNvPr id="32" name="Text 30"/>
          <p:cNvSpPr/>
          <p:nvPr/>
        </p:nvSpPr>
        <p:spPr>
          <a:xfrm>
            <a:off x="4709160" y="4754880"/>
            <a:ext cx="2011680" cy="201168"/>
          </a:xfrm>
          <a:prstGeom prst="rect">
            <a:avLst/>
          </a:prstGeom>
          <a:noFill/>
          <a:ln/>
        </p:spPr>
        <p:txBody>
          <a:bodyPr wrap="square" lIns="0" tIns="0" rIns="0" bIns="0" rtlCol="0" anchor="ctr"/>
          <a:lstStyle/>
          <a:p>
            <a:pPr marL="0" indent="0">
              <a:buNone/>
            </a:pPr>
            <a:r>
              <a:rPr lang="en-US" sz="750" dirty="0">
                <a:solidFill>
                  <a:srgbClr val="64748B"/>
                </a:solidFill>
              </a:rPr>
              <a:t>Model correctly ranks risk 85% of the time</a:t>
            </a:r>
            <a:endParaRPr lang="en-US" sz="750" dirty="0"/>
          </a:p>
        </p:txBody>
      </p:sp>
      <p:sp>
        <p:nvSpPr>
          <p:cNvPr id="33" name="Text 31"/>
          <p:cNvSpPr/>
          <p:nvPr/>
        </p:nvSpPr>
        <p:spPr>
          <a:xfrm>
            <a:off x="6858000" y="4572000"/>
            <a:ext cx="2011680" cy="182880"/>
          </a:xfrm>
          <a:prstGeom prst="rect">
            <a:avLst/>
          </a:prstGeom>
          <a:noFill/>
          <a:ln/>
        </p:spPr>
        <p:txBody>
          <a:bodyPr wrap="square" lIns="0" tIns="0" rIns="0" bIns="0" rtlCol="0" anchor="ctr"/>
          <a:lstStyle/>
          <a:p>
            <a:pPr marL="0" indent="0">
              <a:buNone/>
            </a:pPr>
            <a:r>
              <a:rPr lang="en-US" sz="800" b="1" dirty="0">
                <a:solidFill>
                  <a:srgbClr val="0D3B66"/>
                </a:solidFill>
              </a:rPr>
              <a:t>Multi-Agent</a:t>
            </a:r>
            <a:endParaRPr lang="en-US" sz="800" dirty="0"/>
          </a:p>
        </p:txBody>
      </p:sp>
      <p:sp>
        <p:nvSpPr>
          <p:cNvPr id="34" name="Text 32"/>
          <p:cNvSpPr/>
          <p:nvPr/>
        </p:nvSpPr>
        <p:spPr>
          <a:xfrm>
            <a:off x="6858000" y="4754880"/>
            <a:ext cx="2011680" cy="201168"/>
          </a:xfrm>
          <a:prstGeom prst="rect">
            <a:avLst/>
          </a:prstGeom>
          <a:noFill/>
          <a:ln/>
        </p:spPr>
        <p:txBody>
          <a:bodyPr wrap="square" lIns="0" tIns="0" rIns="0" bIns="0" rtlCol="0" anchor="ctr"/>
          <a:lstStyle/>
          <a:p>
            <a:pPr marL="0" indent="0">
              <a:buNone/>
            </a:pPr>
            <a:r>
              <a:rPr lang="en-US" sz="750" dirty="0">
                <a:solidFill>
                  <a:srgbClr val="64748B"/>
                </a:solidFill>
              </a:rPr>
              <a:t>Specialized components coordinated by one orchestrator</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3B66"/>
          </a:solidFill>
          <a:ln w="12700">
            <a:solidFill>
              <a:srgbClr val="0D3B66"/>
            </a:solidFill>
            <a:prstDash val="solid"/>
          </a:ln>
        </p:spPr>
        <p:txBody>
          <a:bodyPr/>
          <a:lstStyle/>
          <a:p>
            <a:endParaRPr lang="en-US"/>
          </a:p>
        </p:txBody>
      </p:sp>
      <p:sp>
        <p:nvSpPr>
          <p:cNvPr id="3" name="Text 1"/>
          <p:cNvSpPr/>
          <p:nvPr/>
        </p:nvSpPr>
        <p:spPr>
          <a:xfrm>
            <a:off x="365760" y="0"/>
            <a:ext cx="8229600" cy="512064"/>
          </a:xfrm>
          <a:prstGeom prst="rect">
            <a:avLst/>
          </a:prstGeom>
          <a:noFill/>
          <a:ln/>
        </p:spPr>
        <p:txBody>
          <a:bodyPr wrap="square" lIns="0" tIns="0" rIns="0" bIns="0" rtlCol="0" anchor="ctr"/>
          <a:lstStyle/>
          <a:p>
            <a:pPr marL="0" indent="0">
              <a:buNone/>
            </a:pPr>
            <a:r>
              <a:rPr lang="en-US" sz="2200" b="1" dirty="0">
                <a:solidFill>
                  <a:srgbClr val="FFFFFF"/>
                </a:solidFill>
              </a:rPr>
              <a:t>Risks and Data Exposure</a:t>
            </a:r>
            <a:endParaRPr lang="en-US" sz="2200" dirty="0"/>
          </a:p>
        </p:txBody>
      </p:sp>
      <p:sp>
        <p:nvSpPr>
          <p:cNvPr id="4" name="Text 2"/>
          <p:cNvSpPr/>
          <p:nvPr/>
        </p:nvSpPr>
        <p:spPr>
          <a:xfrm>
            <a:off x="365760" y="493776"/>
            <a:ext cx="8229600" cy="164592"/>
          </a:xfrm>
          <a:prstGeom prst="rect">
            <a:avLst/>
          </a:prstGeom>
          <a:noFill/>
          <a:ln/>
        </p:spPr>
        <p:txBody>
          <a:bodyPr wrap="square" lIns="0" tIns="0" rIns="0" bIns="0" rtlCol="0" anchor="ctr"/>
          <a:lstStyle/>
          <a:p>
            <a:pPr marL="0" indent="0">
              <a:buNone/>
            </a:pPr>
            <a:r>
              <a:rPr lang="en-US" sz="800" dirty="0">
                <a:solidFill>
                  <a:srgbClr val="A8C4E0"/>
                </a:solidFill>
              </a:rPr>
              <a:t>Bank Churn Intelligence System  ·  Compliance</a:t>
            </a:r>
            <a:endParaRPr lang="en-US" sz="800" dirty="0"/>
          </a:p>
        </p:txBody>
      </p:sp>
      <p:sp>
        <p:nvSpPr>
          <p:cNvPr id="5" name="Shape 3"/>
          <p:cNvSpPr/>
          <p:nvPr/>
        </p:nvSpPr>
        <p:spPr>
          <a:xfrm>
            <a:off x="228600" y="822960"/>
            <a:ext cx="4160520" cy="4069080"/>
          </a:xfrm>
          <a:prstGeom prst="roundRect">
            <a:avLst>
              <a:gd name="adj" fmla="val 2247"/>
            </a:avLst>
          </a:prstGeom>
          <a:solidFill>
            <a:srgbClr val="F8FAFF"/>
          </a:solidFill>
          <a:ln w="13970">
            <a:solidFill>
              <a:srgbClr val="3B82F6"/>
            </a:solidFill>
            <a:prstDash val="solid"/>
          </a:ln>
          <a:effectLst>
            <a:outerShdw blurRad="50800" dist="25400" dir="2700000" algn="bl" rotWithShape="0">
              <a:srgbClr val="000000">
                <a:alpha val="7000"/>
              </a:srgbClr>
            </a:outerShdw>
          </a:effectLst>
        </p:spPr>
        <p:txBody>
          <a:bodyPr/>
          <a:lstStyle/>
          <a:p>
            <a:endParaRPr lang="en-US"/>
          </a:p>
        </p:txBody>
      </p:sp>
      <p:sp>
        <p:nvSpPr>
          <p:cNvPr id="6" name="Text 4"/>
          <p:cNvSpPr/>
          <p:nvPr/>
        </p:nvSpPr>
        <p:spPr>
          <a:xfrm>
            <a:off x="384048" y="905256"/>
            <a:ext cx="3840480" cy="256032"/>
          </a:xfrm>
          <a:prstGeom prst="rect">
            <a:avLst/>
          </a:prstGeom>
          <a:noFill/>
          <a:ln/>
        </p:spPr>
        <p:txBody>
          <a:bodyPr wrap="square" lIns="0" tIns="0" rIns="0" bIns="0" rtlCol="0" anchor="ctr"/>
          <a:lstStyle/>
          <a:p>
            <a:pPr marL="0" indent="0">
              <a:buNone/>
            </a:pPr>
            <a:r>
              <a:rPr lang="en-US" sz="950" b="1" dirty="0">
                <a:solidFill>
                  <a:srgbClr val="1A40A0"/>
                </a:solidFill>
              </a:rPr>
              <a:t>🔒  WHAT WE SEND TO AI</a:t>
            </a:r>
            <a:endParaRPr lang="en-US" sz="950" dirty="0"/>
          </a:p>
        </p:txBody>
      </p:sp>
      <p:sp>
        <p:nvSpPr>
          <p:cNvPr id="7" name="Shape 5"/>
          <p:cNvSpPr/>
          <p:nvPr/>
        </p:nvSpPr>
        <p:spPr>
          <a:xfrm>
            <a:off x="365760" y="1261872"/>
            <a:ext cx="3886200" cy="804672"/>
          </a:xfrm>
          <a:prstGeom prst="roundRect">
            <a:avLst>
              <a:gd name="adj" fmla="val 7955"/>
            </a:avLst>
          </a:prstGeom>
          <a:solidFill>
            <a:srgbClr val="F0FFF4"/>
          </a:solidFill>
          <a:ln w="6350">
            <a:solidFill>
              <a:srgbClr val="82E0AA"/>
            </a:solidFill>
            <a:prstDash val="solid"/>
          </a:ln>
        </p:spPr>
        <p:txBody>
          <a:bodyPr/>
          <a:lstStyle/>
          <a:p>
            <a:endParaRPr lang="en-US"/>
          </a:p>
        </p:txBody>
      </p:sp>
      <p:sp>
        <p:nvSpPr>
          <p:cNvPr id="8" name="Text 6"/>
          <p:cNvSpPr/>
          <p:nvPr/>
        </p:nvSpPr>
        <p:spPr>
          <a:xfrm>
            <a:off x="475488" y="1325880"/>
            <a:ext cx="2194560" cy="182880"/>
          </a:xfrm>
          <a:prstGeom prst="rect">
            <a:avLst/>
          </a:prstGeom>
          <a:noFill/>
          <a:ln/>
        </p:spPr>
        <p:txBody>
          <a:bodyPr wrap="square" lIns="0" tIns="0" rIns="0" bIns="0" rtlCol="0" anchor="ctr"/>
          <a:lstStyle/>
          <a:p>
            <a:pPr marL="0" indent="0">
              <a:buNone/>
            </a:pPr>
            <a:r>
              <a:rPr lang="en-US" sz="850" b="1" dirty="0">
                <a:solidFill>
                  <a:srgbClr val="1A40A0"/>
                </a:solidFill>
              </a:rPr>
              <a:t>InsightAgent → GPT</a:t>
            </a:r>
            <a:endParaRPr lang="en-US" sz="850" dirty="0"/>
          </a:p>
        </p:txBody>
      </p:sp>
      <p:sp>
        <p:nvSpPr>
          <p:cNvPr id="9" name="Text 7"/>
          <p:cNvSpPr/>
          <p:nvPr/>
        </p:nvSpPr>
        <p:spPr>
          <a:xfrm>
            <a:off x="3182112" y="1325880"/>
            <a:ext cx="1005840" cy="182880"/>
          </a:xfrm>
          <a:prstGeom prst="rect">
            <a:avLst/>
          </a:prstGeom>
          <a:noFill/>
          <a:ln/>
        </p:spPr>
        <p:txBody>
          <a:bodyPr wrap="square" lIns="0" tIns="0" rIns="0" bIns="0" rtlCol="0" anchor="ctr"/>
          <a:lstStyle/>
          <a:p>
            <a:pPr marL="0" indent="0" algn="r">
              <a:buNone/>
            </a:pPr>
            <a:r>
              <a:rPr lang="en-US" sz="750" b="1" dirty="0">
                <a:solidFill>
                  <a:srgbClr val="27AE60"/>
                </a:solidFill>
              </a:rPr>
              <a:t>✅ Safe</a:t>
            </a:r>
            <a:endParaRPr lang="en-US" sz="750" dirty="0"/>
          </a:p>
        </p:txBody>
      </p:sp>
      <p:sp>
        <p:nvSpPr>
          <p:cNvPr id="10" name="Text 8"/>
          <p:cNvSpPr/>
          <p:nvPr/>
        </p:nvSpPr>
        <p:spPr>
          <a:xfrm>
            <a:off x="475488" y="1554480"/>
            <a:ext cx="3657600" cy="457200"/>
          </a:xfrm>
          <a:prstGeom prst="rect">
            <a:avLst/>
          </a:prstGeom>
          <a:noFill/>
          <a:ln/>
        </p:spPr>
        <p:txBody>
          <a:bodyPr wrap="square" lIns="0" tIns="0" rIns="0" bIns="0" rtlCol="0" anchor="ctr"/>
          <a:lstStyle/>
          <a:p>
            <a:pPr marL="0" indent="0">
              <a:buNone/>
            </a:pPr>
            <a:r>
              <a:rPr lang="en-US" sz="800" dirty="0">
                <a:solidFill>
                  <a:srgbClr val="374151"/>
                </a:solidFill>
              </a:rPr>
              <a:t>Aggregated stats only</a:t>
            </a:r>
            <a:endParaRPr lang="en-US" sz="800" dirty="0"/>
          </a:p>
          <a:p>
            <a:pPr marL="0" indent="0">
              <a:buNone/>
            </a:pPr>
            <a:r>
              <a:rPr lang="en-US" sz="800" dirty="0">
                <a:solidFill>
                  <a:srgbClr val="374151"/>
                </a:solidFill>
              </a:rPr>
              <a:t>Churn rates by segment, feature importances</a:t>
            </a:r>
            <a:endParaRPr lang="en-US" sz="800" dirty="0"/>
          </a:p>
          <a:p>
            <a:pPr marL="0" indent="0">
              <a:buNone/>
            </a:pPr>
            <a:r>
              <a:rPr lang="en-US" sz="800" dirty="0">
                <a:solidFill>
                  <a:srgbClr val="374151"/>
                </a:solidFill>
              </a:rPr>
              <a:t>No individual customer data ever sent to GPT</a:t>
            </a:r>
            <a:endParaRPr lang="en-US" sz="800" dirty="0"/>
          </a:p>
        </p:txBody>
      </p:sp>
      <p:sp>
        <p:nvSpPr>
          <p:cNvPr id="11" name="Shape 9"/>
          <p:cNvSpPr/>
          <p:nvPr/>
        </p:nvSpPr>
        <p:spPr>
          <a:xfrm>
            <a:off x="365760" y="2176272"/>
            <a:ext cx="3886200" cy="804672"/>
          </a:xfrm>
          <a:prstGeom prst="roundRect">
            <a:avLst>
              <a:gd name="adj" fmla="val 7955"/>
            </a:avLst>
          </a:prstGeom>
          <a:solidFill>
            <a:srgbClr val="FFF8F0"/>
          </a:solidFill>
          <a:ln w="6350">
            <a:solidFill>
              <a:srgbClr val="F8C471"/>
            </a:solidFill>
            <a:prstDash val="solid"/>
          </a:ln>
        </p:spPr>
        <p:txBody>
          <a:bodyPr/>
          <a:lstStyle/>
          <a:p>
            <a:endParaRPr lang="en-US"/>
          </a:p>
        </p:txBody>
      </p:sp>
      <p:sp>
        <p:nvSpPr>
          <p:cNvPr id="12" name="Text 10"/>
          <p:cNvSpPr/>
          <p:nvPr/>
        </p:nvSpPr>
        <p:spPr>
          <a:xfrm>
            <a:off x="475488" y="2240280"/>
            <a:ext cx="2194560" cy="182880"/>
          </a:xfrm>
          <a:prstGeom prst="rect">
            <a:avLst/>
          </a:prstGeom>
          <a:noFill/>
          <a:ln/>
        </p:spPr>
        <p:txBody>
          <a:bodyPr wrap="square" lIns="0" tIns="0" rIns="0" bIns="0" rtlCol="0" anchor="ctr"/>
          <a:lstStyle/>
          <a:p>
            <a:pPr marL="0" indent="0">
              <a:buNone/>
            </a:pPr>
            <a:r>
              <a:rPr lang="en-US" sz="850" b="1" dirty="0">
                <a:solidFill>
                  <a:srgbClr val="1A40A0"/>
                </a:solidFill>
              </a:rPr>
              <a:t>Reasoning Agent → GPT</a:t>
            </a:r>
            <a:endParaRPr lang="en-US" sz="850" dirty="0"/>
          </a:p>
        </p:txBody>
      </p:sp>
      <p:sp>
        <p:nvSpPr>
          <p:cNvPr id="13" name="Text 11"/>
          <p:cNvSpPr/>
          <p:nvPr/>
        </p:nvSpPr>
        <p:spPr>
          <a:xfrm>
            <a:off x="3182112" y="2240280"/>
            <a:ext cx="1005840" cy="182880"/>
          </a:xfrm>
          <a:prstGeom prst="rect">
            <a:avLst/>
          </a:prstGeom>
          <a:noFill/>
          <a:ln/>
        </p:spPr>
        <p:txBody>
          <a:bodyPr wrap="square" lIns="0" tIns="0" rIns="0" bIns="0" rtlCol="0" anchor="ctr"/>
          <a:lstStyle/>
          <a:p>
            <a:pPr marL="0" indent="0" algn="r">
              <a:buNone/>
            </a:pPr>
            <a:r>
              <a:rPr lang="en-US" sz="750" b="1" dirty="0">
                <a:solidFill>
                  <a:srgbClr val="E67E22"/>
                </a:solidFill>
              </a:rPr>
              <a:t>⚠️ Needs review</a:t>
            </a:r>
            <a:endParaRPr lang="en-US" sz="750" dirty="0"/>
          </a:p>
        </p:txBody>
      </p:sp>
      <p:sp>
        <p:nvSpPr>
          <p:cNvPr id="14" name="Text 12"/>
          <p:cNvSpPr/>
          <p:nvPr/>
        </p:nvSpPr>
        <p:spPr>
          <a:xfrm>
            <a:off x="475488" y="2468880"/>
            <a:ext cx="3657600" cy="457200"/>
          </a:xfrm>
          <a:prstGeom prst="rect">
            <a:avLst/>
          </a:prstGeom>
          <a:noFill/>
          <a:ln/>
        </p:spPr>
        <p:txBody>
          <a:bodyPr wrap="square" lIns="0" tIns="0" rIns="0" bIns="0" rtlCol="0" anchor="ctr"/>
          <a:lstStyle/>
          <a:p>
            <a:pPr marL="0" indent="0">
              <a:buNone/>
            </a:pPr>
            <a:r>
              <a:rPr lang="en-US" sz="800" dirty="0">
                <a:solidFill>
                  <a:srgbClr val="374151"/>
                </a:solidFill>
              </a:rPr>
              <a:t>Row-level attributes sent to GPT</a:t>
            </a:r>
            <a:endParaRPr lang="en-US" sz="800" dirty="0"/>
          </a:p>
          <a:p>
            <a:pPr marL="0" indent="0">
              <a:buNone/>
            </a:pPr>
            <a:r>
              <a:rPr lang="en-US" sz="800" dirty="0">
                <a:solidFill>
                  <a:srgbClr val="374151"/>
                </a:solidFill>
              </a:rPr>
              <a:t>Age, balance, products, geography, activity</a:t>
            </a:r>
            <a:endParaRPr lang="en-US" sz="800" dirty="0"/>
          </a:p>
          <a:p>
            <a:pPr marL="0" indent="0">
              <a:buNone/>
            </a:pPr>
            <a:r>
              <a:rPr lang="en-US" sz="800" dirty="0">
                <a:solidFill>
                  <a:srgbClr val="374151"/>
                </a:solidFill>
              </a:rPr>
              <a:t>No name, SSN, account number, transactions</a:t>
            </a:r>
            <a:endParaRPr lang="en-US" sz="800" dirty="0"/>
          </a:p>
        </p:txBody>
      </p:sp>
      <p:sp>
        <p:nvSpPr>
          <p:cNvPr id="15" name="Shape 13"/>
          <p:cNvSpPr/>
          <p:nvPr/>
        </p:nvSpPr>
        <p:spPr>
          <a:xfrm>
            <a:off x="365760" y="3090672"/>
            <a:ext cx="3886200" cy="804672"/>
          </a:xfrm>
          <a:prstGeom prst="roundRect">
            <a:avLst>
              <a:gd name="adj" fmla="val 7955"/>
            </a:avLst>
          </a:prstGeom>
          <a:solidFill>
            <a:srgbClr val="F0FFF4"/>
          </a:solidFill>
          <a:ln w="6350">
            <a:solidFill>
              <a:srgbClr val="82E0AA"/>
            </a:solidFill>
            <a:prstDash val="solid"/>
          </a:ln>
        </p:spPr>
        <p:txBody>
          <a:bodyPr/>
          <a:lstStyle/>
          <a:p>
            <a:endParaRPr lang="en-US"/>
          </a:p>
        </p:txBody>
      </p:sp>
      <p:sp>
        <p:nvSpPr>
          <p:cNvPr id="16" name="Text 14"/>
          <p:cNvSpPr/>
          <p:nvPr/>
        </p:nvSpPr>
        <p:spPr>
          <a:xfrm>
            <a:off x="475488" y="3154680"/>
            <a:ext cx="2194560" cy="182880"/>
          </a:xfrm>
          <a:prstGeom prst="rect">
            <a:avLst/>
          </a:prstGeom>
          <a:noFill/>
          <a:ln/>
        </p:spPr>
        <p:txBody>
          <a:bodyPr wrap="square" lIns="0" tIns="0" rIns="0" bIns="0" rtlCol="0" anchor="ctr"/>
          <a:lstStyle/>
          <a:p>
            <a:pPr marL="0" indent="0">
              <a:buNone/>
            </a:pPr>
            <a:r>
              <a:rPr lang="en-US" sz="850" b="1" dirty="0">
                <a:solidFill>
                  <a:srgbClr val="1A40A0"/>
                </a:solidFill>
              </a:rPr>
              <a:t>Raw Customer Database</a:t>
            </a:r>
            <a:endParaRPr lang="en-US" sz="850" dirty="0"/>
          </a:p>
        </p:txBody>
      </p:sp>
      <p:sp>
        <p:nvSpPr>
          <p:cNvPr id="17" name="Text 15"/>
          <p:cNvSpPr/>
          <p:nvPr/>
        </p:nvSpPr>
        <p:spPr>
          <a:xfrm>
            <a:off x="3182112" y="3154680"/>
            <a:ext cx="1005840" cy="182880"/>
          </a:xfrm>
          <a:prstGeom prst="rect">
            <a:avLst/>
          </a:prstGeom>
          <a:noFill/>
          <a:ln/>
        </p:spPr>
        <p:txBody>
          <a:bodyPr wrap="square" lIns="0" tIns="0" rIns="0" bIns="0" rtlCol="0" anchor="ctr"/>
          <a:lstStyle/>
          <a:p>
            <a:pPr marL="0" indent="0" algn="r">
              <a:buNone/>
            </a:pPr>
            <a:r>
              <a:rPr lang="en-US" sz="750" b="1" dirty="0">
                <a:solidFill>
                  <a:srgbClr val="27AE60"/>
                </a:solidFill>
              </a:rPr>
              <a:t>✅ Safe</a:t>
            </a:r>
            <a:endParaRPr lang="en-US" sz="750" dirty="0"/>
          </a:p>
        </p:txBody>
      </p:sp>
      <p:sp>
        <p:nvSpPr>
          <p:cNvPr id="18" name="Text 16"/>
          <p:cNvSpPr/>
          <p:nvPr/>
        </p:nvSpPr>
        <p:spPr>
          <a:xfrm>
            <a:off x="475488" y="3383280"/>
            <a:ext cx="3657600" cy="457200"/>
          </a:xfrm>
          <a:prstGeom prst="rect">
            <a:avLst/>
          </a:prstGeom>
          <a:noFill/>
          <a:ln/>
        </p:spPr>
        <p:txBody>
          <a:bodyPr wrap="square" lIns="0" tIns="0" rIns="0" bIns="0" rtlCol="0" anchor="ctr"/>
          <a:lstStyle/>
          <a:p>
            <a:pPr marL="0" indent="0">
              <a:buNone/>
            </a:pPr>
            <a:r>
              <a:rPr lang="en-US" sz="800" dirty="0">
                <a:solidFill>
                  <a:srgbClr val="374151"/>
                </a:solidFill>
              </a:rPr>
              <a:t>Never sent anywhere</a:t>
            </a:r>
            <a:endParaRPr lang="en-US" sz="800" dirty="0"/>
          </a:p>
          <a:p>
            <a:pPr marL="0" indent="0">
              <a:buNone/>
            </a:pPr>
            <a:r>
              <a:rPr lang="en-US" sz="800" dirty="0">
                <a:solidFill>
                  <a:srgbClr val="374151"/>
                </a:solidFill>
              </a:rPr>
              <a:t>Stays entirely on your server</a:t>
            </a:r>
            <a:endParaRPr lang="en-US" sz="800" dirty="0"/>
          </a:p>
          <a:p>
            <a:pPr marL="0" indent="0">
              <a:buNone/>
            </a:pPr>
            <a:r>
              <a:rPr lang="en-US" sz="800" dirty="0">
                <a:solidFill>
                  <a:srgbClr val="374151"/>
                </a:solidFill>
              </a:rPr>
              <a:t>GPT never touches it</a:t>
            </a:r>
            <a:endParaRPr lang="en-US" sz="800" dirty="0"/>
          </a:p>
        </p:txBody>
      </p:sp>
      <p:sp>
        <p:nvSpPr>
          <p:cNvPr id="19" name="Shape 17"/>
          <p:cNvSpPr/>
          <p:nvPr/>
        </p:nvSpPr>
        <p:spPr>
          <a:xfrm>
            <a:off x="4754880" y="822960"/>
            <a:ext cx="4160520" cy="4069080"/>
          </a:xfrm>
          <a:prstGeom prst="roundRect">
            <a:avLst>
              <a:gd name="adj" fmla="val 2247"/>
            </a:avLst>
          </a:prstGeom>
          <a:solidFill>
            <a:srgbClr val="FFF5F5"/>
          </a:solidFill>
          <a:ln w="13970">
            <a:solidFill>
              <a:srgbClr val="E74C3C"/>
            </a:solidFill>
            <a:prstDash val="solid"/>
          </a:ln>
          <a:effectLst>
            <a:outerShdw blurRad="50800" dist="25400" dir="2700000" algn="bl" rotWithShape="0">
              <a:srgbClr val="000000">
                <a:alpha val="7000"/>
              </a:srgbClr>
            </a:outerShdw>
          </a:effectLst>
        </p:spPr>
        <p:txBody>
          <a:bodyPr/>
          <a:lstStyle/>
          <a:p>
            <a:endParaRPr lang="en-US"/>
          </a:p>
        </p:txBody>
      </p:sp>
      <p:sp>
        <p:nvSpPr>
          <p:cNvPr id="20" name="Text 18"/>
          <p:cNvSpPr/>
          <p:nvPr/>
        </p:nvSpPr>
        <p:spPr>
          <a:xfrm>
            <a:off x="4910328" y="905256"/>
            <a:ext cx="3840480" cy="256032"/>
          </a:xfrm>
          <a:prstGeom prst="rect">
            <a:avLst/>
          </a:prstGeom>
          <a:noFill/>
          <a:ln/>
        </p:spPr>
        <p:txBody>
          <a:bodyPr wrap="square" lIns="0" tIns="0" rIns="0" bIns="0" rtlCol="0" anchor="ctr"/>
          <a:lstStyle/>
          <a:p>
            <a:pPr marL="0" indent="0">
              <a:buNone/>
            </a:pPr>
            <a:r>
              <a:rPr lang="en-US" sz="950" b="1" dirty="0">
                <a:solidFill>
                  <a:srgbClr val="C0392B"/>
                </a:solidFill>
              </a:rPr>
              <a:t>⚠️  THE REAL DATA RISK</a:t>
            </a:r>
            <a:endParaRPr lang="en-US" sz="950" dirty="0"/>
          </a:p>
        </p:txBody>
      </p:sp>
      <p:sp>
        <p:nvSpPr>
          <p:cNvPr id="21" name="Text 19"/>
          <p:cNvSpPr/>
          <p:nvPr/>
        </p:nvSpPr>
        <p:spPr>
          <a:xfrm>
            <a:off x="4910328" y="1234440"/>
            <a:ext cx="3840480" cy="493776"/>
          </a:xfrm>
          <a:prstGeom prst="rect">
            <a:avLst/>
          </a:prstGeom>
          <a:noFill/>
          <a:ln/>
        </p:spPr>
        <p:txBody>
          <a:bodyPr wrap="square" lIns="0" tIns="0" rIns="0" bIns="0" rtlCol="0" anchor="ctr"/>
          <a:lstStyle/>
          <a:p>
            <a:pPr marL="0" indent="0">
              <a:buNone/>
            </a:pPr>
            <a:r>
              <a:rPr lang="en-US" sz="850" dirty="0">
                <a:solidFill>
                  <a:srgbClr val="374151"/>
                </a:solidFill>
              </a:rPr>
              <a:t>When an analyst asks which customers to call,</a:t>
            </a:r>
            <a:endParaRPr lang="en-US" sz="850" dirty="0"/>
          </a:p>
          <a:p>
            <a:pPr marL="0" indent="0">
              <a:buNone/>
            </a:pPr>
            <a:r>
              <a:rPr lang="en-US" sz="850" dirty="0">
                <a:solidFill>
                  <a:srgbClr val="374151"/>
                </a:solidFill>
              </a:rPr>
              <a:t>the tool returns individual attributes and sends</a:t>
            </a:r>
            <a:endParaRPr lang="en-US" sz="850" dirty="0"/>
          </a:p>
          <a:p>
            <a:pPr marL="0" indent="0">
              <a:buNone/>
            </a:pPr>
            <a:r>
              <a:rPr lang="en-US" sz="850" dirty="0">
                <a:solidFill>
                  <a:srgbClr val="374151"/>
                </a:solidFill>
              </a:rPr>
              <a:t>them to GPT as part of the prompt.</a:t>
            </a:r>
            <a:endParaRPr lang="en-US" sz="850" dirty="0"/>
          </a:p>
        </p:txBody>
      </p:sp>
      <p:sp>
        <p:nvSpPr>
          <p:cNvPr id="22" name="Shape 20"/>
          <p:cNvSpPr/>
          <p:nvPr/>
        </p:nvSpPr>
        <p:spPr>
          <a:xfrm>
            <a:off x="4892040" y="1792224"/>
            <a:ext cx="3886200" cy="932688"/>
          </a:xfrm>
          <a:prstGeom prst="roundRect">
            <a:avLst>
              <a:gd name="adj" fmla="val 6863"/>
            </a:avLst>
          </a:prstGeom>
          <a:solidFill>
            <a:srgbClr val="FEF0F0"/>
          </a:solidFill>
          <a:ln w="6350">
            <a:solidFill>
              <a:srgbClr val="F1948A"/>
            </a:solidFill>
            <a:prstDash val="solid"/>
          </a:ln>
        </p:spPr>
        <p:txBody>
          <a:bodyPr/>
          <a:lstStyle/>
          <a:p>
            <a:endParaRPr lang="en-US"/>
          </a:p>
        </p:txBody>
      </p:sp>
      <p:sp>
        <p:nvSpPr>
          <p:cNvPr id="23" name="Text 21"/>
          <p:cNvSpPr/>
          <p:nvPr/>
        </p:nvSpPr>
        <p:spPr>
          <a:xfrm>
            <a:off x="5010912" y="1847088"/>
            <a:ext cx="3657600" cy="201168"/>
          </a:xfrm>
          <a:prstGeom prst="rect">
            <a:avLst/>
          </a:prstGeom>
          <a:noFill/>
          <a:ln/>
        </p:spPr>
        <p:txBody>
          <a:bodyPr wrap="square" lIns="0" tIns="0" rIns="0" bIns="0" rtlCol="0" anchor="ctr"/>
          <a:lstStyle/>
          <a:p>
            <a:pPr marL="0" indent="0">
              <a:buNone/>
            </a:pPr>
            <a:r>
              <a:rPr lang="en-US" sz="850" b="1" dirty="0">
                <a:solidFill>
                  <a:srgbClr val="C0392B"/>
                </a:solidFill>
              </a:rPr>
              <a:t>What GPT receives:</a:t>
            </a:r>
            <a:endParaRPr lang="en-US" sz="850" dirty="0"/>
          </a:p>
        </p:txBody>
      </p:sp>
      <p:sp>
        <p:nvSpPr>
          <p:cNvPr id="24" name="Text 22"/>
          <p:cNvSpPr/>
          <p:nvPr/>
        </p:nvSpPr>
        <p:spPr>
          <a:xfrm>
            <a:off x="5010912" y="2048256"/>
            <a:ext cx="3657600" cy="621792"/>
          </a:xfrm>
          <a:prstGeom prst="rect">
            <a:avLst/>
          </a:prstGeom>
          <a:noFill/>
          <a:ln/>
        </p:spPr>
        <p:txBody>
          <a:bodyPr wrap="square" lIns="0" tIns="0" rIns="0" bIns="0" rtlCol="0" anchor="ctr"/>
          <a:lstStyle/>
          <a:p>
            <a:pPr marL="0" indent="0">
              <a:buNone/>
            </a:pPr>
            <a:r>
              <a:rPr lang="en-US" sz="850" i="1" dirty="0">
                <a:solidFill>
                  <a:srgbClr val="5D3333"/>
                </a:solidFill>
              </a:rPr>
              <a:t>Customer 4821: 94% churn risk</a:t>
            </a:r>
            <a:endParaRPr lang="en-US" sz="850" dirty="0"/>
          </a:p>
          <a:p>
            <a:pPr marL="0" indent="0">
              <a:buNone/>
            </a:pPr>
            <a:r>
              <a:rPr lang="en-US" sz="850" i="1" dirty="0">
                <a:solidFill>
                  <a:srgbClr val="5D3333"/>
                </a:solidFill>
              </a:rPr>
              <a:t>Age: 52  ·  Balance: $145,000  ·  Products: 3</a:t>
            </a:r>
            <a:endParaRPr lang="en-US" sz="850" dirty="0"/>
          </a:p>
          <a:p>
            <a:pPr marL="0" indent="0">
              <a:buNone/>
            </a:pPr>
            <a:r>
              <a:rPr lang="en-US" sz="850" i="1" dirty="0">
                <a:solidFill>
                  <a:srgbClr val="5D3333"/>
                </a:solidFill>
              </a:rPr>
              <a:t>Active: No  ·  Geography: Germany</a:t>
            </a:r>
            <a:endParaRPr lang="en-US" sz="850" dirty="0"/>
          </a:p>
        </p:txBody>
      </p:sp>
      <p:sp>
        <p:nvSpPr>
          <p:cNvPr id="25" name="Shape 23"/>
          <p:cNvSpPr/>
          <p:nvPr/>
        </p:nvSpPr>
        <p:spPr>
          <a:xfrm>
            <a:off x="4892040" y="2788920"/>
            <a:ext cx="3886200" cy="749808"/>
          </a:xfrm>
          <a:prstGeom prst="roundRect">
            <a:avLst>
              <a:gd name="adj" fmla="val 8537"/>
            </a:avLst>
          </a:prstGeom>
          <a:solidFill>
            <a:srgbClr val="F0FFF4"/>
          </a:solidFill>
          <a:ln w="6350">
            <a:solidFill>
              <a:srgbClr val="82E0AA"/>
            </a:solidFill>
            <a:prstDash val="solid"/>
          </a:ln>
        </p:spPr>
        <p:txBody>
          <a:bodyPr/>
          <a:lstStyle/>
          <a:p>
            <a:endParaRPr lang="en-US"/>
          </a:p>
        </p:txBody>
      </p:sp>
      <p:sp>
        <p:nvSpPr>
          <p:cNvPr id="26" name="Text 24"/>
          <p:cNvSpPr/>
          <p:nvPr/>
        </p:nvSpPr>
        <p:spPr>
          <a:xfrm>
            <a:off x="5010912" y="2843784"/>
            <a:ext cx="3657600" cy="201168"/>
          </a:xfrm>
          <a:prstGeom prst="rect">
            <a:avLst/>
          </a:prstGeom>
          <a:noFill/>
          <a:ln/>
        </p:spPr>
        <p:txBody>
          <a:bodyPr wrap="square" lIns="0" tIns="0" rIns="0" bIns="0" rtlCol="0" anchor="ctr"/>
          <a:lstStyle/>
          <a:p>
            <a:pPr marL="0" indent="0">
              <a:buNone/>
            </a:pPr>
            <a:r>
              <a:rPr lang="en-US" sz="850" b="1" dirty="0">
                <a:solidFill>
                  <a:srgbClr val="1E8449"/>
                </a:solidFill>
              </a:rPr>
              <a:t>What GPT never sees:</a:t>
            </a:r>
            <a:endParaRPr lang="en-US" sz="850" dirty="0"/>
          </a:p>
        </p:txBody>
      </p:sp>
      <p:sp>
        <p:nvSpPr>
          <p:cNvPr id="27" name="Text 25"/>
          <p:cNvSpPr/>
          <p:nvPr/>
        </p:nvSpPr>
        <p:spPr>
          <a:xfrm>
            <a:off x="5010912" y="3044952"/>
            <a:ext cx="3657600" cy="438912"/>
          </a:xfrm>
          <a:prstGeom prst="rect">
            <a:avLst/>
          </a:prstGeom>
          <a:noFill/>
          <a:ln/>
        </p:spPr>
        <p:txBody>
          <a:bodyPr wrap="square" lIns="0" tIns="0" rIns="0" bIns="0" rtlCol="0" anchor="ctr"/>
          <a:lstStyle/>
          <a:p>
            <a:pPr marL="0" indent="0">
              <a:buNone/>
            </a:pPr>
            <a:r>
              <a:rPr lang="en-US" sz="850" dirty="0">
                <a:solidFill>
                  <a:srgbClr val="1A4731"/>
                </a:solidFill>
              </a:rPr>
              <a:t>Full name  ·  SSN  ·  Account number</a:t>
            </a:r>
            <a:endParaRPr lang="en-US" sz="850" dirty="0"/>
          </a:p>
          <a:p>
            <a:pPr marL="0" indent="0">
              <a:buNone/>
            </a:pPr>
            <a:r>
              <a:rPr lang="en-US" sz="850" dirty="0">
                <a:solidFill>
                  <a:srgbClr val="1A4731"/>
                </a:solidFill>
              </a:rPr>
              <a:t>Transaction history  ·  Home address  ·  Phone number</a:t>
            </a:r>
            <a:endParaRPr lang="en-US" sz="850" dirty="0"/>
          </a:p>
        </p:txBody>
      </p:sp>
      <p:sp>
        <p:nvSpPr>
          <p:cNvPr id="28" name="Shape 26"/>
          <p:cNvSpPr/>
          <p:nvPr/>
        </p:nvSpPr>
        <p:spPr>
          <a:xfrm>
            <a:off x="4892040" y="3611880"/>
            <a:ext cx="3886200" cy="1024128"/>
          </a:xfrm>
          <a:prstGeom prst="roundRect">
            <a:avLst>
              <a:gd name="adj" fmla="val 7143"/>
            </a:avLst>
          </a:prstGeom>
          <a:solidFill>
            <a:srgbClr val="0D3B66"/>
          </a:solidFill>
          <a:ln w="12700">
            <a:solidFill>
              <a:srgbClr val="0D3B66"/>
            </a:solidFill>
            <a:prstDash val="solid"/>
          </a:ln>
        </p:spPr>
        <p:txBody>
          <a:bodyPr/>
          <a:lstStyle/>
          <a:p>
            <a:endParaRPr lang="en-US"/>
          </a:p>
        </p:txBody>
      </p:sp>
      <p:sp>
        <p:nvSpPr>
          <p:cNvPr id="29" name="Text 27"/>
          <p:cNvSpPr/>
          <p:nvPr/>
        </p:nvSpPr>
        <p:spPr>
          <a:xfrm>
            <a:off x="5010912" y="3666744"/>
            <a:ext cx="3657600" cy="201168"/>
          </a:xfrm>
          <a:prstGeom prst="rect">
            <a:avLst/>
          </a:prstGeom>
          <a:noFill/>
          <a:ln/>
        </p:spPr>
        <p:txBody>
          <a:bodyPr wrap="square" lIns="0" tIns="0" rIns="0" bIns="0" rtlCol="0" anchor="ctr"/>
          <a:lstStyle/>
          <a:p>
            <a:pPr marL="0" indent="0">
              <a:buNone/>
            </a:pPr>
            <a:r>
              <a:rPr lang="en-US" sz="850" b="1" dirty="0">
                <a:solidFill>
                  <a:srgbClr val="A8C4E0"/>
                </a:solidFill>
              </a:rPr>
              <a:t>Production fix:</a:t>
            </a:r>
            <a:endParaRPr lang="en-US" sz="850" dirty="0"/>
          </a:p>
        </p:txBody>
      </p:sp>
      <p:sp>
        <p:nvSpPr>
          <p:cNvPr id="30" name="Text 28"/>
          <p:cNvSpPr/>
          <p:nvPr/>
        </p:nvSpPr>
        <p:spPr>
          <a:xfrm>
            <a:off x="5010912" y="3867912"/>
            <a:ext cx="3657600" cy="713232"/>
          </a:xfrm>
          <a:prstGeom prst="rect">
            <a:avLst/>
          </a:prstGeom>
          <a:noFill/>
          <a:ln/>
        </p:spPr>
        <p:txBody>
          <a:bodyPr wrap="square" lIns="0" tIns="0" rIns="0" bIns="0" rtlCol="0" anchor="ctr"/>
          <a:lstStyle/>
          <a:p>
            <a:pPr marL="0" indent="0">
              <a:buNone/>
            </a:pPr>
            <a:r>
              <a:rPr lang="en-US" sz="850" dirty="0">
                <a:solidFill>
                  <a:srgbClr val="FFFFFF"/>
                </a:solidFill>
              </a:rPr>
              <a:t>Run a local LLM (Llama 3 or Mistral) on your own server.</a:t>
            </a:r>
            <a:endParaRPr lang="en-US" sz="850" dirty="0"/>
          </a:p>
          <a:p>
            <a:pPr marL="0" indent="0">
              <a:buNone/>
            </a:pPr>
            <a:r>
              <a:rPr lang="en-US" sz="850" dirty="0">
                <a:solidFill>
                  <a:srgbClr val="FFFFFF"/>
                </a:solidFill>
              </a:rPr>
              <a:t>Same architecture. One line of code changed.</a:t>
            </a:r>
            <a:endParaRPr lang="en-US" sz="850" dirty="0"/>
          </a:p>
          <a:p>
            <a:pPr marL="0" indent="0">
              <a:buNone/>
            </a:pPr>
            <a:r>
              <a:rPr lang="en-US" sz="850" dirty="0">
                <a:solidFill>
                  <a:srgbClr val="FFFFFF"/>
                </a:solidFill>
              </a:rPr>
              <a:t>Data never leaves your network.</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3B66"/>
          </a:solidFill>
          <a:ln w="12700">
            <a:solidFill>
              <a:srgbClr val="0D3B66"/>
            </a:solidFill>
            <a:prstDash val="solid"/>
          </a:ln>
        </p:spPr>
        <p:txBody>
          <a:bodyPr/>
          <a:lstStyle/>
          <a:p>
            <a:endParaRPr lang="en-US"/>
          </a:p>
        </p:txBody>
      </p:sp>
      <p:sp>
        <p:nvSpPr>
          <p:cNvPr id="3" name="Text 1"/>
          <p:cNvSpPr/>
          <p:nvPr/>
        </p:nvSpPr>
        <p:spPr>
          <a:xfrm>
            <a:off x="365760" y="0"/>
            <a:ext cx="8229600" cy="512064"/>
          </a:xfrm>
          <a:prstGeom prst="rect">
            <a:avLst/>
          </a:prstGeom>
          <a:noFill/>
          <a:ln/>
        </p:spPr>
        <p:txBody>
          <a:bodyPr wrap="square" lIns="0" tIns="0" rIns="0" bIns="0" rtlCol="0" anchor="ctr"/>
          <a:lstStyle/>
          <a:p>
            <a:pPr marL="0" indent="0">
              <a:buNone/>
            </a:pPr>
            <a:r>
              <a:rPr lang="en-US" sz="2200" b="1" dirty="0">
                <a:solidFill>
                  <a:srgbClr val="FFFFFF"/>
                </a:solidFill>
              </a:rPr>
              <a:t>What Comes Next</a:t>
            </a:r>
            <a:endParaRPr lang="en-US" sz="2200" dirty="0"/>
          </a:p>
        </p:txBody>
      </p:sp>
      <p:sp>
        <p:nvSpPr>
          <p:cNvPr id="4" name="Text 2"/>
          <p:cNvSpPr/>
          <p:nvPr/>
        </p:nvSpPr>
        <p:spPr>
          <a:xfrm>
            <a:off x="365760" y="493776"/>
            <a:ext cx="8229600" cy="164592"/>
          </a:xfrm>
          <a:prstGeom prst="rect">
            <a:avLst/>
          </a:prstGeom>
          <a:noFill/>
          <a:ln/>
        </p:spPr>
        <p:txBody>
          <a:bodyPr wrap="square" lIns="0" tIns="0" rIns="0" bIns="0" rtlCol="0" anchor="ctr"/>
          <a:lstStyle/>
          <a:p>
            <a:pPr marL="0" indent="0">
              <a:buNone/>
            </a:pPr>
            <a:r>
              <a:rPr lang="en-US" sz="800" dirty="0">
                <a:solidFill>
                  <a:srgbClr val="A8C4E0"/>
                </a:solidFill>
              </a:rPr>
              <a:t>Bank Churn Intelligence System  ·  Roadmap</a:t>
            </a:r>
            <a:endParaRPr lang="en-US" sz="800" dirty="0"/>
          </a:p>
        </p:txBody>
      </p:sp>
      <p:sp>
        <p:nvSpPr>
          <p:cNvPr id="17" name="Shape 15"/>
          <p:cNvSpPr/>
          <p:nvPr/>
        </p:nvSpPr>
        <p:spPr>
          <a:xfrm>
            <a:off x="272527" y="912607"/>
            <a:ext cx="4160520" cy="4069080"/>
          </a:xfrm>
          <a:prstGeom prst="roundRect">
            <a:avLst>
              <a:gd name="adj" fmla="val 2247"/>
            </a:avLst>
          </a:prstGeom>
          <a:solidFill>
            <a:srgbClr val="F0FFF4"/>
          </a:solidFill>
          <a:ln w="13970">
            <a:solidFill>
              <a:srgbClr val="27AE60"/>
            </a:solidFill>
            <a:prstDash val="solid"/>
          </a:ln>
          <a:effectLst>
            <a:outerShdw blurRad="50800" dist="25400" dir="2700000" algn="bl" rotWithShape="0">
              <a:srgbClr val="000000">
                <a:alpha val="7000"/>
              </a:srgbClr>
            </a:outerShdw>
          </a:effectLst>
        </p:spPr>
        <p:txBody>
          <a:bodyPr/>
          <a:lstStyle/>
          <a:p>
            <a:endParaRPr lang="en-US"/>
          </a:p>
        </p:txBody>
      </p:sp>
      <p:sp>
        <p:nvSpPr>
          <p:cNvPr id="18" name="Text 16"/>
          <p:cNvSpPr/>
          <p:nvPr/>
        </p:nvSpPr>
        <p:spPr>
          <a:xfrm>
            <a:off x="427975" y="994903"/>
            <a:ext cx="3840480" cy="256032"/>
          </a:xfrm>
          <a:prstGeom prst="rect">
            <a:avLst/>
          </a:prstGeom>
          <a:noFill/>
          <a:ln/>
        </p:spPr>
        <p:txBody>
          <a:bodyPr wrap="square" lIns="0" tIns="0" rIns="0" bIns="0" rtlCol="0" anchor="ctr"/>
          <a:lstStyle/>
          <a:p>
            <a:pPr marL="0" indent="0">
              <a:buNone/>
            </a:pPr>
            <a:r>
              <a:rPr lang="en-US" sz="950" b="1" dirty="0">
                <a:solidFill>
                  <a:srgbClr val="1E8449"/>
                </a:solidFill>
              </a:rPr>
              <a:t>🚀  WHAT COMES NEXT</a:t>
            </a:r>
            <a:endParaRPr lang="en-US" sz="950" dirty="0"/>
          </a:p>
        </p:txBody>
      </p:sp>
      <p:sp>
        <p:nvSpPr>
          <p:cNvPr id="19" name="Shape 17"/>
          <p:cNvSpPr/>
          <p:nvPr/>
        </p:nvSpPr>
        <p:spPr>
          <a:xfrm>
            <a:off x="409687" y="1333231"/>
            <a:ext cx="3886200" cy="804672"/>
          </a:xfrm>
          <a:prstGeom prst="roundRect">
            <a:avLst>
              <a:gd name="adj" fmla="val 7955"/>
            </a:avLst>
          </a:prstGeom>
          <a:solidFill>
            <a:srgbClr val="E8F8EE"/>
          </a:solidFill>
          <a:ln w="6350">
            <a:solidFill>
              <a:srgbClr val="82E0AA"/>
            </a:solidFill>
            <a:prstDash val="solid"/>
          </a:ln>
        </p:spPr>
        <p:txBody>
          <a:bodyPr/>
          <a:lstStyle/>
          <a:p>
            <a:endParaRPr lang="en-US"/>
          </a:p>
        </p:txBody>
      </p:sp>
      <p:sp>
        <p:nvSpPr>
          <p:cNvPr id="20" name="Shape 18"/>
          <p:cNvSpPr/>
          <p:nvPr/>
        </p:nvSpPr>
        <p:spPr>
          <a:xfrm>
            <a:off x="501127" y="1442959"/>
            <a:ext cx="274320" cy="237744"/>
          </a:xfrm>
          <a:prstGeom prst="roundRect">
            <a:avLst>
              <a:gd name="adj" fmla="val 19231"/>
            </a:avLst>
          </a:prstGeom>
          <a:solidFill>
            <a:srgbClr val="27AE60"/>
          </a:solidFill>
          <a:ln w="12700">
            <a:solidFill>
              <a:srgbClr val="27AE60"/>
            </a:solidFill>
            <a:prstDash val="solid"/>
          </a:ln>
        </p:spPr>
        <p:txBody>
          <a:bodyPr/>
          <a:lstStyle/>
          <a:p>
            <a:endParaRPr lang="en-US"/>
          </a:p>
        </p:txBody>
      </p:sp>
      <p:sp>
        <p:nvSpPr>
          <p:cNvPr id="21" name="Text 19"/>
          <p:cNvSpPr/>
          <p:nvPr/>
        </p:nvSpPr>
        <p:spPr>
          <a:xfrm>
            <a:off x="501127" y="1442959"/>
            <a:ext cx="274320" cy="237744"/>
          </a:xfrm>
          <a:prstGeom prst="rect">
            <a:avLst/>
          </a:prstGeom>
          <a:noFill/>
          <a:ln/>
        </p:spPr>
        <p:txBody>
          <a:bodyPr wrap="square" lIns="0" tIns="0" rIns="0" bIns="0" rtlCol="0" anchor="ctr"/>
          <a:lstStyle/>
          <a:p>
            <a:pPr marL="0" indent="0" algn="ctr">
              <a:buNone/>
            </a:pPr>
            <a:r>
              <a:rPr lang="en-US" sz="700" b="1" dirty="0">
                <a:solidFill>
                  <a:srgbClr val="FFFFFF"/>
                </a:solidFill>
              </a:rPr>
              <a:t>01</a:t>
            </a:r>
            <a:endParaRPr lang="en-US" sz="700" dirty="0"/>
          </a:p>
        </p:txBody>
      </p:sp>
      <p:sp>
        <p:nvSpPr>
          <p:cNvPr id="22" name="Text 20"/>
          <p:cNvSpPr/>
          <p:nvPr/>
        </p:nvSpPr>
        <p:spPr>
          <a:xfrm>
            <a:off x="848599" y="1442959"/>
            <a:ext cx="3355848" cy="237744"/>
          </a:xfrm>
          <a:prstGeom prst="rect">
            <a:avLst/>
          </a:prstGeom>
          <a:noFill/>
          <a:ln/>
        </p:spPr>
        <p:txBody>
          <a:bodyPr wrap="square" lIns="0" tIns="0" rIns="0" bIns="0" rtlCol="0" anchor="ctr"/>
          <a:lstStyle/>
          <a:p>
            <a:pPr marL="0" indent="0">
              <a:buNone/>
            </a:pPr>
            <a:r>
              <a:rPr lang="en-US" sz="900" b="1" dirty="0">
                <a:solidFill>
                  <a:srgbClr val="1E8449"/>
                </a:solidFill>
              </a:rPr>
              <a:t>Python REPL Tool</a:t>
            </a:r>
            <a:endParaRPr lang="en-US" sz="900" dirty="0"/>
          </a:p>
        </p:txBody>
      </p:sp>
      <p:sp>
        <p:nvSpPr>
          <p:cNvPr id="23" name="Text 21"/>
          <p:cNvSpPr/>
          <p:nvPr/>
        </p:nvSpPr>
        <p:spPr>
          <a:xfrm>
            <a:off x="501127" y="1735567"/>
            <a:ext cx="3703320" cy="365760"/>
          </a:xfrm>
          <a:prstGeom prst="rect">
            <a:avLst/>
          </a:prstGeom>
          <a:noFill/>
          <a:ln/>
        </p:spPr>
        <p:txBody>
          <a:bodyPr wrap="square" lIns="0" tIns="0" rIns="0" bIns="0" rtlCol="0" anchor="ctr"/>
          <a:lstStyle/>
          <a:p>
            <a:pPr marL="0" indent="0">
              <a:buNone/>
            </a:pPr>
            <a:r>
              <a:rPr lang="en-US" sz="780" dirty="0">
                <a:solidFill>
                  <a:srgbClr val="374151"/>
                </a:solidFill>
              </a:rPr>
              <a:t>Agent writes its own pandas code on the fly. Answers any question the data can answer. Fixes the Germany analysis gap and the revenue at risk gap.</a:t>
            </a:r>
            <a:endParaRPr lang="en-US" sz="780" dirty="0"/>
          </a:p>
        </p:txBody>
      </p:sp>
      <p:sp>
        <p:nvSpPr>
          <p:cNvPr id="24" name="Shape 22"/>
          <p:cNvSpPr/>
          <p:nvPr/>
        </p:nvSpPr>
        <p:spPr>
          <a:xfrm>
            <a:off x="409687" y="2229343"/>
            <a:ext cx="3886200" cy="804672"/>
          </a:xfrm>
          <a:prstGeom prst="roundRect">
            <a:avLst>
              <a:gd name="adj" fmla="val 7955"/>
            </a:avLst>
          </a:prstGeom>
          <a:solidFill>
            <a:srgbClr val="E8F8EE"/>
          </a:solidFill>
          <a:ln w="6350">
            <a:solidFill>
              <a:srgbClr val="82E0AA"/>
            </a:solidFill>
            <a:prstDash val="solid"/>
          </a:ln>
        </p:spPr>
        <p:txBody>
          <a:bodyPr/>
          <a:lstStyle/>
          <a:p>
            <a:endParaRPr lang="en-US"/>
          </a:p>
        </p:txBody>
      </p:sp>
      <p:sp>
        <p:nvSpPr>
          <p:cNvPr id="25" name="Shape 23"/>
          <p:cNvSpPr/>
          <p:nvPr/>
        </p:nvSpPr>
        <p:spPr>
          <a:xfrm>
            <a:off x="501127" y="2339071"/>
            <a:ext cx="274320" cy="237744"/>
          </a:xfrm>
          <a:prstGeom prst="roundRect">
            <a:avLst>
              <a:gd name="adj" fmla="val 19231"/>
            </a:avLst>
          </a:prstGeom>
          <a:solidFill>
            <a:srgbClr val="27AE60"/>
          </a:solidFill>
          <a:ln w="12700">
            <a:solidFill>
              <a:srgbClr val="27AE60"/>
            </a:solidFill>
            <a:prstDash val="solid"/>
          </a:ln>
        </p:spPr>
        <p:txBody>
          <a:bodyPr/>
          <a:lstStyle/>
          <a:p>
            <a:endParaRPr lang="en-US"/>
          </a:p>
        </p:txBody>
      </p:sp>
      <p:sp>
        <p:nvSpPr>
          <p:cNvPr id="26" name="Text 24"/>
          <p:cNvSpPr/>
          <p:nvPr/>
        </p:nvSpPr>
        <p:spPr>
          <a:xfrm>
            <a:off x="501127" y="2339071"/>
            <a:ext cx="274320" cy="237744"/>
          </a:xfrm>
          <a:prstGeom prst="rect">
            <a:avLst/>
          </a:prstGeom>
          <a:noFill/>
          <a:ln/>
        </p:spPr>
        <p:txBody>
          <a:bodyPr wrap="square" lIns="0" tIns="0" rIns="0" bIns="0" rtlCol="0" anchor="ctr"/>
          <a:lstStyle/>
          <a:p>
            <a:pPr marL="0" indent="0" algn="ctr">
              <a:buNone/>
            </a:pPr>
            <a:r>
              <a:rPr lang="en-US" sz="700" b="1" dirty="0">
                <a:solidFill>
                  <a:srgbClr val="FFFFFF"/>
                </a:solidFill>
              </a:rPr>
              <a:t>02</a:t>
            </a:r>
            <a:endParaRPr lang="en-US" sz="700" dirty="0"/>
          </a:p>
        </p:txBody>
      </p:sp>
      <p:sp>
        <p:nvSpPr>
          <p:cNvPr id="27" name="Text 25"/>
          <p:cNvSpPr/>
          <p:nvPr/>
        </p:nvSpPr>
        <p:spPr>
          <a:xfrm>
            <a:off x="848599" y="2339071"/>
            <a:ext cx="3355848" cy="237744"/>
          </a:xfrm>
          <a:prstGeom prst="rect">
            <a:avLst/>
          </a:prstGeom>
          <a:noFill/>
          <a:ln/>
        </p:spPr>
        <p:txBody>
          <a:bodyPr wrap="square" lIns="0" tIns="0" rIns="0" bIns="0" rtlCol="0" anchor="ctr"/>
          <a:lstStyle/>
          <a:p>
            <a:pPr marL="0" indent="0">
              <a:buNone/>
            </a:pPr>
            <a:r>
              <a:rPr lang="en-US" sz="900" b="1" dirty="0">
                <a:solidFill>
                  <a:srgbClr val="1E8449"/>
                </a:solidFill>
              </a:rPr>
              <a:t>Local LLM</a:t>
            </a:r>
            <a:endParaRPr lang="en-US" sz="900" dirty="0"/>
          </a:p>
        </p:txBody>
      </p:sp>
      <p:sp>
        <p:nvSpPr>
          <p:cNvPr id="28" name="Text 26"/>
          <p:cNvSpPr/>
          <p:nvPr/>
        </p:nvSpPr>
        <p:spPr>
          <a:xfrm>
            <a:off x="501127" y="2631679"/>
            <a:ext cx="3703320" cy="365760"/>
          </a:xfrm>
          <a:prstGeom prst="rect">
            <a:avLst/>
          </a:prstGeom>
          <a:noFill/>
          <a:ln/>
        </p:spPr>
        <p:txBody>
          <a:bodyPr wrap="square" lIns="0" tIns="0" rIns="0" bIns="0" rtlCol="0" anchor="ctr"/>
          <a:lstStyle/>
          <a:p>
            <a:pPr marL="0" indent="0">
              <a:buNone/>
            </a:pPr>
            <a:r>
              <a:rPr lang="en-US" sz="780" dirty="0">
                <a:solidFill>
                  <a:srgbClr val="374151"/>
                </a:solidFill>
              </a:rPr>
              <a:t>Swap GPT for Llama 3 or Mistral on your own server. Same architecture, one line changed. Zero data leaves your network. Fixes the compliance concern.</a:t>
            </a:r>
            <a:endParaRPr lang="en-US" sz="780" dirty="0"/>
          </a:p>
        </p:txBody>
      </p:sp>
      <p:sp>
        <p:nvSpPr>
          <p:cNvPr id="29" name="Shape 27"/>
          <p:cNvSpPr/>
          <p:nvPr/>
        </p:nvSpPr>
        <p:spPr>
          <a:xfrm>
            <a:off x="409687" y="3125455"/>
            <a:ext cx="3886200" cy="804672"/>
          </a:xfrm>
          <a:prstGeom prst="roundRect">
            <a:avLst>
              <a:gd name="adj" fmla="val 7955"/>
            </a:avLst>
          </a:prstGeom>
          <a:solidFill>
            <a:srgbClr val="E8F8EE"/>
          </a:solidFill>
          <a:ln w="6350">
            <a:solidFill>
              <a:srgbClr val="82E0AA"/>
            </a:solidFill>
            <a:prstDash val="solid"/>
          </a:ln>
        </p:spPr>
        <p:txBody>
          <a:bodyPr/>
          <a:lstStyle/>
          <a:p>
            <a:endParaRPr lang="en-US"/>
          </a:p>
        </p:txBody>
      </p:sp>
      <p:sp>
        <p:nvSpPr>
          <p:cNvPr id="30" name="Shape 28"/>
          <p:cNvSpPr/>
          <p:nvPr/>
        </p:nvSpPr>
        <p:spPr>
          <a:xfrm>
            <a:off x="501127" y="3235183"/>
            <a:ext cx="274320" cy="237744"/>
          </a:xfrm>
          <a:prstGeom prst="roundRect">
            <a:avLst>
              <a:gd name="adj" fmla="val 19231"/>
            </a:avLst>
          </a:prstGeom>
          <a:solidFill>
            <a:srgbClr val="27AE60"/>
          </a:solidFill>
          <a:ln w="12700">
            <a:solidFill>
              <a:srgbClr val="27AE60"/>
            </a:solidFill>
            <a:prstDash val="solid"/>
          </a:ln>
        </p:spPr>
        <p:txBody>
          <a:bodyPr/>
          <a:lstStyle/>
          <a:p>
            <a:endParaRPr lang="en-US"/>
          </a:p>
        </p:txBody>
      </p:sp>
      <p:sp>
        <p:nvSpPr>
          <p:cNvPr id="31" name="Text 29"/>
          <p:cNvSpPr/>
          <p:nvPr/>
        </p:nvSpPr>
        <p:spPr>
          <a:xfrm>
            <a:off x="501127" y="3235183"/>
            <a:ext cx="274320" cy="237744"/>
          </a:xfrm>
          <a:prstGeom prst="rect">
            <a:avLst/>
          </a:prstGeom>
          <a:noFill/>
          <a:ln/>
        </p:spPr>
        <p:txBody>
          <a:bodyPr wrap="square" lIns="0" tIns="0" rIns="0" bIns="0" rtlCol="0" anchor="ctr"/>
          <a:lstStyle/>
          <a:p>
            <a:pPr marL="0" indent="0" algn="ctr">
              <a:buNone/>
            </a:pPr>
            <a:r>
              <a:rPr lang="en-US" sz="700" b="1" dirty="0">
                <a:solidFill>
                  <a:srgbClr val="FFFFFF"/>
                </a:solidFill>
              </a:rPr>
              <a:t>03</a:t>
            </a:r>
            <a:endParaRPr lang="en-US" sz="700" dirty="0"/>
          </a:p>
        </p:txBody>
      </p:sp>
      <p:sp>
        <p:nvSpPr>
          <p:cNvPr id="32" name="Text 30"/>
          <p:cNvSpPr/>
          <p:nvPr/>
        </p:nvSpPr>
        <p:spPr>
          <a:xfrm>
            <a:off x="848599" y="3235183"/>
            <a:ext cx="3355848" cy="237744"/>
          </a:xfrm>
          <a:prstGeom prst="rect">
            <a:avLst/>
          </a:prstGeom>
          <a:noFill/>
          <a:ln/>
        </p:spPr>
        <p:txBody>
          <a:bodyPr wrap="square" lIns="0" tIns="0" rIns="0" bIns="0" rtlCol="0" anchor="ctr"/>
          <a:lstStyle/>
          <a:p>
            <a:pPr marL="0" indent="0">
              <a:buNone/>
            </a:pPr>
            <a:r>
              <a:rPr lang="en-US" sz="900" b="1" dirty="0">
                <a:solidFill>
                  <a:srgbClr val="1E8449"/>
                </a:solidFill>
              </a:rPr>
              <a:t>Vector Database</a:t>
            </a:r>
            <a:endParaRPr lang="en-US" sz="900" dirty="0"/>
          </a:p>
        </p:txBody>
      </p:sp>
      <p:sp>
        <p:nvSpPr>
          <p:cNvPr id="33" name="Text 31"/>
          <p:cNvSpPr/>
          <p:nvPr/>
        </p:nvSpPr>
        <p:spPr>
          <a:xfrm>
            <a:off x="501127" y="3527791"/>
            <a:ext cx="3703320" cy="365760"/>
          </a:xfrm>
          <a:prstGeom prst="rect">
            <a:avLst/>
          </a:prstGeom>
          <a:noFill/>
          <a:ln/>
        </p:spPr>
        <p:txBody>
          <a:bodyPr wrap="square" lIns="0" tIns="0" rIns="0" bIns="0" rtlCol="0" anchor="ctr"/>
          <a:lstStyle/>
          <a:p>
            <a:pPr marL="0" indent="0">
              <a:buNone/>
            </a:pPr>
            <a:r>
              <a:rPr lang="en-US" sz="780" dirty="0">
                <a:solidFill>
                  <a:srgbClr val="374151"/>
                </a:solidFill>
              </a:rPr>
              <a:t>Agent remembers decisions and outcomes across sessions. Stores summaries only. No raw customer PII stored.</a:t>
            </a:r>
            <a:endParaRPr lang="en-US" sz="780" dirty="0"/>
          </a:p>
        </p:txBody>
      </p:sp>
      <p:sp>
        <p:nvSpPr>
          <p:cNvPr id="34" name="Shape 32"/>
          <p:cNvSpPr/>
          <p:nvPr/>
        </p:nvSpPr>
        <p:spPr>
          <a:xfrm>
            <a:off x="409687" y="4021567"/>
            <a:ext cx="3886200" cy="804672"/>
          </a:xfrm>
          <a:prstGeom prst="roundRect">
            <a:avLst>
              <a:gd name="adj" fmla="val 7955"/>
            </a:avLst>
          </a:prstGeom>
          <a:solidFill>
            <a:srgbClr val="E8F8EE"/>
          </a:solidFill>
          <a:ln w="6350">
            <a:solidFill>
              <a:srgbClr val="82E0AA"/>
            </a:solidFill>
            <a:prstDash val="solid"/>
          </a:ln>
        </p:spPr>
        <p:txBody>
          <a:bodyPr/>
          <a:lstStyle/>
          <a:p>
            <a:endParaRPr lang="en-US"/>
          </a:p>
        </p:txBody>
      </p:sp>
      <p:sp>
        <p:nvSpPr>
          <p:cNvPr id="35" name="Shape 33"/>
          <p:cNvSpPr/>
          <p:nvPr/>
        </p:nvSpPr>
        <p:spPr>
          <a:xfrm>
            <a:off x="501127" y="4131295"/>
            <a:ext cx="274320" cy="237744"/>
          </a:xfrm>
          <a:prstGeom prst="roundRect">
            <a:avLst>
              <a:gd name="adj" fmla="val 19231"/>
            </a:avLst>
          </a:prstGeom>
          <a:solidFill>
            <a:srgbClr val="27AE60"/>
          </a:solidFill>
          <a:ln w="12700">
            <a:solidFill>
              <a:srgbClr val="27AE60"/>
            </a:solidFill>
            <a:prstDash val="solid"/>
          </a:ln>
        </p:spPr>
        <p:txBody>
          <a:bodyPr/>
          <a:lstStyle/>
          <a:p>
            <a:endParaRPr lang="en-US"/>
          </a:p>
        </p:txBody>
      </p:sp>
      <p:sp>
        <p:nvSpPr>
          <p:cNvPr id="36" name="Text 34"/>
          <p:cNvSpPr/>
          <p:nvPr/>
        </p:nvSpPr>
        <p:spPr>
          <a:xfrm>
            <a:off x="501127" y="4131295"/>
            <a:ext cx="274320" cy="237744"/>
          </a:xfrm>
          <a:prstGeom prst="rect">
            <a:avLst/>
          </a:prstGeom>
          <a:noFill/>
          <a:ln/>
        </p:spPr>
        <p:txBody>
          <a:bodyPr wrap="square" lIns="0" tIns="0" rIns="0" bIns="0" rtlCol="0" anchor="ctr"/>
          <a:lstStyle/>
          <a:p>
            <a:pPr marL="0" indent="0" algn="ctr">
              <a:buNone/>
            </a:pPr>
            <a:r>
              <a:rPr lang="en-US" sz="700" b="1" dirty="0">
                <a:solidFill>
                  <a:srgbClr val="FFFFFF"/>
                </a:solidFill>
              </a:rPr>
              <a:t>04</a:t>
            </a:r>
            <a:endParaRPr lang="en-US" sz="700" dirty="0"/>
          </a:p>
        </p:txBody>
      </p:sp>
      <p:sp>
        <p:nvSpPr>
          <p:cNvPr id="37" name="Text 35"/>
          <p:cNvSpPr/>
          <p:nvPr/>
        </p:nvSpPr>
        <p:spPr>
          <a:xfrm>
            <a:off x="848599" y="4131295"/>
            <a:ext cx="3355848" cy="237744"/>
          </a:xfrm>
          <a:prstGeom prst="rect">
            <a:avLst/>
          </a:prstGeom>
          <a:noFill/>
          <a:ln/>
        </p:spPr>
        <p:txBody>
          <a:bodyPr wrap="square" lIns="0" tIns="0" rIns="0" bIns="0" rtlCol="0" anchor="ctr"/>
          <a:lstStyle/>
          <a:p>
            <a:pPr marL="0" indent="0">
              <a:buNone/>
            </a:pPr>
            <a:r>
              <a:rPr lang="en-US" sz="900" b="1" dirty="0">
                <a:solidFill>
                  <a:srgbClr val="1E8449"/>
                </a:solidFill>
              </a:rPr>
              <a:t>Automated Outreach</a:t>
            </a:r>
            <a:endParaRPr lang="en-US" sz="900" dirty="0"/>
          </a:p>
        </p:txBody>
      </p:sp>
      <p:sp>
        <p:nvSpPr>
          <p:cNvPr id="38" name="Text 36"/>
          <p:cNvSpPr/>
          <p:nvPr/>
        </p:nvSpPr>
        <p:spPr>
          <a:xfrm>
            <a:off x="501127" y="4423903"/>
            <a:ext cx="3703320" cy="365760"/>
          </a:xfrm>
          <a:prstGeom prst="rect">
            <a:avLst/>
          </a:prstGeom>
          <a:noFill/>
          <a:ln/>
        </p:spPr>
        <p:txBody>
          <a:bodyPr wrap="square" lIns="0" tIns="0" rIns="0" bIns="0" rtlCol="0" anchor="ctr"/>
          <a:lstStyle/>
          <a:p>
            <a:pPr marL="0" indent="0">
              <a:buNone/>
            </a:pPr>
            <a:r>
              <a:rPr lang="en-US" sz="780" dirty="0">
                <a:solidFill>
                  <a:srgbClr val="374151"/>
                </a:solidFill>
              </a:rPr>
              <a:t>Human sets offer types and budget upfront. System identifies and targets each customer. Human approves. Model drives the action.</a:t>
            </a:r>
            <a:endParaRPr lang="en-US" sz="780" dirty="0"/>
          </a:p>
        </p:txBody>
      </p:sp>
      <p:sp>
        <p:nvSpPr>
          <p:cNvPr id="39" name="Shape 3">
            <a:extLst>
              <a:ext uri="{FF2B5EF4-FFF2-40B4-BE49-F238E27FC236}">
                <a16:creationId xmlns:a16="http://schemas.microsoft.com/office/drawing/2014/main" id="{D05EEC9E-2EE6-458E-0755-3CA2F2AA9439}"/>
              </a:ext>
            </a:extLst>
          </p:cNvPr>
          <p:cNvSpPr/>
          <p:nvPr/>
        </p:nvSpPr>
        <p:spPr>
          <a:xfrm>
            <a:off x="4710953" y="912607"/>
            <a:ext cx="4160520" cy="4069080"/>
          </a:xfrm>
          <a:prstGeom prst="roundRect">
            <a:avLst>
              <a:gd name="adj" fmla="val 2247"/>
            </a:avLst>
          </a:prstGeom>
          <a:solidFill>
            <a:srgbClr val="F5F0FF"/>
          </a:solidFill>
          <a:ln w="13970">
            <a:solidFill>
              <a:srgbClr val="8B5CF6"/>
            </a:solidFill>
            <a:prstDash val="solid"/>
          </a:ln>
          <a:effectLst>
            <a:outerShdw blurRad="50800" dist="25400" dir="2700000" algn="bl" rotWithShape="0">
              <a:srgbClr val="000000">
                <a:alpha val="7000"/>
              </a:srgbClr>
            </a:outerShdw>
          </a:effectLst>
        </p:spPr>
        <p:txBody>
          <a:bodyPr/>
          <a:lstStyle/>
          <a:p>
            <a:endParaRPr lang="en-US"/>
          </a:p>
        </p:txBody>
      </p:sp>
      <p:sp>
        <p:nvSpPr>
          <p:cNvPr id="40" name="Text 4">
            <a:extLst>
              <a:ext uri="{FF2B5EF4-FFF2-40B4-BE49-F238E27FC236}">
                <a16:creationId xmlns:a16="http://schemas.microsoft.com/office/drawing/2014/main" id="{CFF4EE34-309F-DBCC-FFEB-618F0B064343}"/>
              </a:ext>
            </a:extLst>
          </p:cNvPr>
          <p:cNvSpPr/>
          <p:nvPr/>
        </p:nvSpPr>
        <p:spPr>
          <a:xfrm>
            <a:off x="4866401" y="994903"/>
            <a:ext cx="3840480" cy="256032"/>
          </a:xfrm>
          <a:prstGeom prst="rect">
            <a:avLst/>
          </a:prstGeom>
          <a:noFill/>
          <a:ln/>
        </p:spPr>
        <p:txBody>
          <a:bodyPr wrap="square" lIns="0" tIns="0" rIns="0" bIns="0" rtlCol="0" anchor="ctr"/>
          <a:lstStyle/>
          <a:p>
            <a:pPr marL="0" indent="0">
              <a:buNone/>
            </a:pPr>
            <a:r>
              <a:rPr lang="en-US" sz="950" b="1" dirty="0">
                <a:solidFill>
                  <a:srgbClr val="5B21B6"/>
                </a:solidFill>
              </a:rPr>
              <a:t>🧠  VECTOR DATABASE</a:t>
            </a:r>
            <a:endParaRPr lang="en-US" sz="950" dirty="0"/>
          </a:p>
        </p:txBody>
      </p:sp>
      <p:sp>
        <p:nvSpPr>
          <p:cNvPr id="41" name="Text 5">
            <a:extLst>
              <a:ext uri="{FF2B5EF4-FFF2-40B4-BE49-F238E27FC236}">
                <a16:creationId xmlns:a16="http://schemas.microsoft.com/office/drawing/2014/main" id="{7703FB7E-F646-85F5-FF2C-AE87D4A8C3FA}"/>
              </a:ext>
            </a:extLst>
          </p:cNvPr>
          <p:cNvSpPr/>
          <p:nvPr/>
        </p:nvSpPr>
        <p:spPr>
          <a:xfrm>
            <a:off x="4866401" y="1324087"/>
            <a:ext cx="3840480" cy="493776"/>
          </a:xfrm>
          <a:prstGeom prst="rect">
            <a:avLst/>
          </a:prstGeom>
          <a:noFill/>
          <a:ln/>
        </p:spPr>
        <p:txBody>
          <a:bodyPr wrap="square" lIns="0" tIns="0" rIns="0" bIns="0" rtlCol="0" anchor="ctr"/>
          <a:lstStyle/>
          <a:p>
            <a:pPr marL="0" indent="0">
              <a:buNone/>
            </a:pPr>
            <a:r>
              <a:rPr lang="en-US" sz="850" dirty="0">
                <a:solidFill>
                  <a:srgbClr val="374151"/>
                </a:solidFill>
              </a:rPr>
              <a:t>Right now the agent forgets everything when you</a:t>
            </a:r>
            <a:endParaRPr lang="en-US" sz="850" dirty="0"/>
          </a:p>
          <a:p>
            <a:pPr marL="0" indent="0">
              <a:buNone/>
            </a:pPr>
            <a:r>
              <a:rPr lang="en-US" sz="850" dirty="0">
                <a:solidFill>
                  <a:srgbClr val="374151"/>
                </a:solidFill>
              </a:rPr>
              <a:t>restart. Every session starts from scratch.</a:t>
            </a:r>
            <a:endParaRPr lang="en-US" sz="850" dirty="0"/>
          </a:p>
          <a:p>
            <a:pPr marL="0" indent="0">
              <a:buNone/>
            </a:pPr>
            <a:r>
              <a:rPr lang="en-US" sz="850" dirty="0">
                <a:solidFill>
                  <a:srgbClr val="374151"/>
                </a:solidFill>
              </a:rPr>
              <a:t>A vector database gives it long-term memory.</a:t>
            </a:r>
            <a:endParaRPr lang="en-US" sz="850" dirty="0"/>
          </a:p>
        </p:txBody>
      </p:sp>
      <p:sp>
        <p:nvSpPr>
          <p:cNvPr id="42" name="Shape 6">
            <a:extLst>
              <a:ext uri="{FF2B5EF4-FFF2-40B4-BE49-F238E27FC236}">
                <a16:creationId xmlns:a16="http://schemas.microsoft.com/office/drawing/2014/main" id="{5968E363-A907-F73B-05D4-E200E9E965E8}"/>
              </a:ext>
            </a:extLst>
          </p:cNvPr>
          <p:cNvSpPr/>
          <p:nvPr/>
        </p:nvSpPr>
        <p:spPr>
          <a:xfrm>
            <a:off x="4848113" y="1881871"/>
            <a:ext cx="3886200" cy="932688"/>
          </a:xfrm>
          <a:prstGeom prst="roundRect">
            <a:avLst>
              <a:gd name="adj" fmla="val 6863"/>
            </a:avLst>
          </a:prstGeom>
          <a:solidFill>
            <a:srgbClr val="FEF0F0"/>
          </a:solidFill>
          <a:ln w="6350">
            <a:solidFill>
              <a:srgbClr val="F1948A"/>
            </a:solidFill>
            <a:prstDash val="solid"/>
          </a:ln>
        </p:spPr>
        <p:txBody>
          <a:bodyPr/>
          <a:lstStyle/>
          <a:p>
            <a:endParaRPr lang="en-US"/>
          </a:p>
        </p:txBody>
      </p:sp>
      <p:sp>
        <p:nvSpPr>
          <p:cNvPr id="43" name="Text 7">
            <a:extLst>
              <a:ext uri="{FF2B5EF4-FFF2-40B4-BE49-F238E27FC236}">
                <a16:creationId xmlns:a16="http://schemas.microsoft.com/office/drawing/2014/main" id="{FCAA33DF-5097-54D0-DD70-9DE8ED89788E}"/>
              </a:ext>
            </a:extLst>
          </p:cNvPr>
          <p:cNvSpPr/>
          <p:nvPr/>
        </p:nvSpPr>
        <p:spPr>
          <a:xfrm>
            <a:off x="4957841" y="1936735"/>
            <a:ext cx="3657600" cy="201168"/>
          </a:xfrm>
          <a:prstGeom prst="rect">
            <a:avLst/>
          </a:prstGeom>
          <a:noFill/>
          <a:ln/>
        </p:spPr>
        <p:txBody>
          <a:bodyPr wrap="square" lIns="0" tIns="0" rIns="0" bIns="0" rtlCol="0" anchor="ctr"/>
          <a:lstStyle/>
          <a:p>
            <a:pPr marL="0" indent="0">
              <a:buNone/>
            </a:pPr>
            <a:r>
              <a:rPr lang="en-US" sz="850" b="1" dirty="0">
                <a:solidFill>
                  <a:srgbClr val="C0392B"/>
                </a:solidFill>
              </a:rPr>
              <a:t>Without vector database:</a:t>
            </a:r>
            <a:endParaRPr lang="en-US" sz="850" dirty="0"/>
          </a:p>
        </p:txBody>
      </p:sp>
      <p:sp>
        <p:nvSpPr>
          <p:cNvPr id="44" name="Text 8">
            <a:extLst>
              <a:ext uri="{FF2B5EF4-FFF2-40B4-BE49-F238E27FC236}">
                <a16:creationId xmlns:a16="http://schemas.microsoft.com/office/drawing/2014/main" id="{8B99483D-AE56-F662-927E-534704AEF035}"/>
              </a:ext>
            </a:extLst>
          </p:cNvPr>
          <p:cNvSpPr/>
          <p:nvPr/>
        </p:nvSpPr>
        <p:spPr>
          <a:xfrm>
            <a:off x="4957841" y="2137903"/>
            <a:ext cx="3657600" cy="621792"/>
          </a:xfrm>
          <a:prstGeom prst="rect">
            <a:avLst/>
          </a:prstGeom>
          <a:noFill/>
          <a:ln/>
        </p:spPr>
        <p:txBody>
          <a:bodyPr wrap="square" lIns="0" tIns="0" rIns="0" bIns="0" rtlCol="0" anchor="ctr"/>
          <a:lstStyle/>
          <a:p>
            <a:pPr marL="0" indent="0">
              <a:buNone/>
            </a:pPr>
            <a:r>
              <a:rPr lang="en-US" sz="850" i="1" dirty="0">
                <a:solidFill>
                  <a:srgbClr val="5D3333"/>
                </a:solidFill>
              </a:rPr>
              <a:t>"Last week Germany churn was 32%. Has it changed?"</a:t>
            </a:r>
            <a:endParaRPr lang="en-US" sz="850" dirty="0"/>
          </a:p>
          <a:p>
            <a:pPr marL="0" indent="0">
              <a:buNone/>
            </a:pPr>
            <a:r>
              <a:rPr lang="en-US" sz="850" i="1" dirty="0">
                <a:solidFill>
                  <a:srgbClr val="5D3333"/>
                </a:solidFill>
              </a:rPr>
              <a:t>Agent: "I don't know what happened last week."</a:t>
            </a:r>
            <a:endParaRPr lang="en-US" sz="850" dirty="0"/>
          </a:p>
          <a:p>
            <a:pPr marL="0" indent="0">
              <a:buNone/>
            </a:pPr>
            <a:r>
              <a:rPr lang="en-US" sz="850" i="1" dirty="0">
                <a:solidFill>
                  <a:srgbClr val="5D3333"/>
                </a:solidFill>
              </a:rPr>
              <a:t>Agent: "I can only see the current session."</a:t>
            </a:r>
            <a:endParaRPr lang="en-US" sz="850" dirty="0"/>
          </a:p>
        </p:txBody>
      </p:sp>
      <p:sp>
        <p:nvSpPr>
          <p:cNvPr id="45" name="Shape 9">
            <a:extLst>
              <a:ext uri="{FF2B5EF4-FFF2-40B4-BE49-F238E27FC236}">
                <a16:creationId xmlns:a16="http://schemas.microsoft.com/office/drawing/2014/main" id="{0B330F3E-A216-7EF5-C5BD-A279CF6C5A54}"/>
              </a:ext>
            </a:extLst>
          </p:cNvPr>
          <p:cNvSpPr/>
          <p:nvPr/>
        </p:nvSpPr>
        <p:spPr>
          <a:xfrm>
            <a:off x="4848113" y="2878567"/>
            <a:ext cx="3886200" cy="932688"/>
          </a:xfrm>
          <a:prstGeom prst="roundRect">
            <a:avLst>
              <a:gd name="adj" fmla="val 6863"/>
            </a:avLst>
          </a:prstGeom>
          <a:solidFill>
            <a:srgbClr val="EDE9FF"/>
          </a:solidFill>
          <a:ln w="6350">
            <a:solidFill>
              <a:srgbClr val="8B5CF6"/>
            </a:solidFill>
            <a:prstDash val="solid"/>
          </a:ln>
        </p:spPr>
        <p:txBody>
          <a:bodyPr/>
          <a:lstStyle/>
          <a:p>
            <a:endParaRPr lang="en-US"/>
          </a:p>
        </p:txBody>
      </p:sp>
      <p:sp>
        <p:nvSpPr>
          <p:cNvPr id="46" name="Text 10">
            <a:extLst>
              <a:ext uri="{FF2B5EF4-FFF2-40B4-BE49-F238E27FC236}">
                <a16:creationId xmlns:a16="http://schemas.microsoft.com/office/drawing/2014/main" id="{C0170423-420E-C7E5-48CD-CF8989FE5532}"/>
              </a:ext>
            </a:extLst>
          </p:cNvPr>
          <p:cNvSpPr/>
          <p:nvPr/>
        </p:nvSpPr>
        <p:spPr>
          <a:xfrm>
            <a:off x="4957841" y="2933431"/>
            <a:ext cx="3657600" cy="201168"/>
          </a:xfrm>
          <a:prstGeom prst="rect">
            <a:avLst/>
          </a:prstGeom>
          <a:noFill/>
          <a:ln/>
        </p:spPr>
        <p:txBody>
          <a:bodyPr wrap="square" lIns="0" tIns="0" rIns="0" bIns="0" rtlCol="0" anchor="ctr"/>
          <a:lstStyle/>
          <a:p>
            <a:pPr marL="0" indent="0">
              <a:buNone/>
            </a:pPr>
            <a:r>
              <a:rPr lang="en-US" sz="850" b="1" dirty="0">
                <a:solidFill>
                  <a:srgbClr val="5B21B6"/>
                </a:solidFill>
              </a:rPr>
              <a:t>With vector database:</a:t>
            </a:r>
            <a:endParaRPr lang="en-US" sz="850" dirty="0"/>
          </a:p>
        </p:txBody>
      </p:sp>
      <p:sp>
        <p:nvSpPr>
          <p:cNvPr id="47" name="Text 11">
            <a:extLst>
              <a:ext uri="{FF2B5EF4-FFF2-40B4-BE49-F238E27FC236}">
                <a16:creationId xmlns:a16="http://schemas.microsoft.com/office/drawing/2014/main" id="{ED060B36-CE9C-41B1-1D94-F38C4E4DFBA6}"/>
              </a:ext>
            </a:extLst>
          </p:cNvPr>
          <p:cNvSpPr/>
          <p:nvPr/>
        </p:nvSpPr>
        <p:spPr>
          <a:xfrm>
            <a:off x="4957841" y="3134599"/>
            <a:ext cx="3657600" cy="621792"/>
          </a:xfrm>
          <a:prstGeom prst="rect">
            <a:avLst/>
          </a:prstGeom>
          <a:noFill/>
          <a:ln/>
        </p:spPr>
        <p:txBody>
          <a:bodyPr wrap="square" lIns="0" tIns="0" rIns="0" bIns="0" rtlCol="0" anchor="ctr"/>
          <a:lstStyle/>
          <a:p>
            <a:pPr marL="0" indent="0">
              <a:buNone/>
            </a:pPr>
            <a:r>
              <a:rPr lang="en-US" sz="850" i="1" dirty="0">
                <a:solidFill>
                  <a:srgbClr val="3B1F8C"/>
                </a:solidFill>
              </a:rPr>
              <a:t>Agent retrieves last week's session automatically.</a:t>
            </a:r>
            <a:endParaRPr lang="en-US" sz="850" dirty="0"/>
          </a:p>
          <a:p>
            <a:pPr marL="0" indent="0">
              <a:buNone/>
            </a:pPr>
            <a:r>
              <a:rPr lang="en-US" sz="850" i="1" dirty="0">
                <a:solidFill>
                  <a:srgbClr val="3B1F8C"/>
                </a:solidFill>
              </a:rPr>
              <a:t>Agent: "Germany was 32.44% last week."</a:t>
            </a:r>
            <a:endParaRPr lang="en-US" sz="850" dirty="0"/>
          </a:p>
          <a:p>
            <a:pPr marL="0" indent="0">
              <a:buNone/>
            </a:pPr>
            <a:r>
              <a:rPr lang="en-US" sz="850" i="1" dirty="0">
                <a:solidFill>
                  <a:srgbClr val="3B1F8C"/>
                </a:solidFill>
              </a:rPr>
              <a:t>Agent: "This week 33.1%. Trend is worsening."</a:t>
            </a:r>
            <a:endParaRPr lang="en-US" sz="850" dirty="0"/>
          </a:p>
        </p:txBody>
      </p:sp>
      <p:sp>
        <p:nvSpPr>
          <p:cNvPr id="48" name="Shape 12">
            <a:extLst>
              <a:ext uri="{FF2B5EF4-FFF2-40B4-BE49-F238E27FC236}">
                <a16:creationId xmlns:a16="http://schemas.microsoft.com/office/drawing/2014/main" id="{6ED7C031-553C-FA53-CB71-F7A02141AAD3}"/>
              </a:ext>
            </a:extLst>
          </p:cNvPr>
          <p:cNvSpPr/>
          <p:nvPr/>
        </p:nvSpPr>
        <p:spPr>
          <a:xfrm>
            <a:off x="4848113" y="3884407"/>
            <a:ext cx="3886200" cy="841248"/>
          </a:xfrm>
          <a:prstGeom prst="roundRect">
            <a:avLst>
              <a:gd name="adj" fmla="val 7609"/>
            </a:avLst>
          </a:prstGeom>
          <a:solidFill>
            <a:srgbClr val="F5F0FF"/>
          </a:solidFill>
          <a:ln w="6350">
            <a:solidFill>
              <a:srgbClr val="C4B5FD"/>
            </a:solidFill>
            <a:prstDash val="solid"/>
          </a:ln>
        </p:spPr>
        <p:txBody>
          <a:bodyPr/>
          <a:lstStyle/>
          <a:p>
            <a:endParaRPr lang="en-US"/>
          </a:p>
        </p:txBody>
      </p:sp>
      <p:sp>
        <p:nvSpPr>
          <p:cNvPr id="49" name="Text 13">
            <a:extLst>
              <a:ext uri="{FF2B5EF4-FFF2-40B4-BE49-F238E27FC236}">
                <a16:creationId xmlns:a16="http://schemas.microsoft.com/office/drawing/2014/main" id="{E1FD2CE4-17E1-868D-83D2-D82C605020B6}"/>
              </a:ext>
            </a:extLst>
          </p:cNvPr>
          <p:cNvSpPr/>
          <p:nvPr/>
        </p:nvSpPr>
        <p:spPr>
          <a:xfrm>
            <a:off x="4957841" y="3939271"/>
            <a:ext cx="3657600" cy="201168"/>
          </a:xfrm>
          <a:prstGeom prst="rect">
            <a:avLst/>
          </a:prstGeom>
          <a:noFill/>
          <a:ln/>
        </p:spPr>
        <p:txBody>
          <a:bodyPr wrap="square" lIns="0" tIns="0" rIns="0" bIns="0" rtlCol="0" anchor="ctr"/>
          <a:lstStyle/>
          <a:p>
            <a:pPr marL="0" indent="0">
              <a:buNone/>
            </a:pPr>
            <a:r>
              <a:rPr lang="en-US" sz="850" b="1" dirty="0">
                <a:solidFill>
                  <a:srgbClr val="5B21B6"/>
                </a:solidFill>
              </a:rPr>
              <a:t>What gets stored vs what does not:</a:t>
            </a:r>
            <a:endParaRPr lang="en-US" sz="850" dirty="0"/>
          </a:p>
        </p:txBody>
      </p:sp>
      <p:sp>
        <p:nvSpPr>
          <p:cNvPr id="50" name="Text 14">
            <a:extLst>
              <a:ext uri="{FF2B5EF4-FFF2-40B4-BE49-F238E27FC236}">
                <a16:creationId xmlns:a16="http://schemas.microsoft.com/office/drawing/2014/main" id="{784AE1DF-3F33-E8BC-9159-61DEC3F39E40}"/>
              </a:ext>
            </a:extLst>
          </p:cNvPr>
          <p:cNvSpPr/>
          <p:nvPr/>
        </p:nvSpPr>
        <p:spPr>
          <a:xfrm>
            <a:off x="4957841" y="4140439"/>
            <a:ext cx="3657600" cy="530352"/>
          </a:xfrm>
          <a:prstGeom prst="rect">
            <a:avLst/>
          </a:prstGeom>
          <a:noFill/>
          <a:ln/>
        </p:spPr>
        <p:txBody>
          <a:bodyPr wrap="square" lIns="0" tIns="0" rIns="0" bIns="0" rtlCol="0" anchor="ctr"/>
          <a:lstStyle/>
          <a:p>
            <a:pPr marL="0" indent="0">
              <a:buNone/>
            </a:pPr>
            <a:r>
              <a:rPr lang="en-US" sz="800" dirty="0">
                <a:solidFill>
                  <a:srgbClr val="374151"/>
                </a:solidFill>
              </a:rPr>
              <a:t>✅ Stored: Q&amp;A summaries, campaign outcomes, model performance over time</a:t>
            </a:r>
            <a:endParaRPr lang="en-US" sz="800" dirty="0"/>
          </a:p>
          <a:p>
            <a:pPr marL="0" indent="0">
              <a:buNone/>
            </a:pPr>
            <a:r>
              <a:rPr lang="en-US" sz="800" dirty="0">
                <a:solidFill>
                  <a:srgbClr val="374151"/>
                </a:solidFill>
              </a:rPr>
              <a:t>❌ Never stored: raw customer data, PII, account numbers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3B66"/>
          </a:solidFill>
          <a:ln w="12700">
            <a:solidFill>
              <a:srgbClr val="0D3B66"/>
            </a:solidFill>
            <a:prstDash val="solid"/>
          </a:ln>
        </p:spPr>
        <p:txBody>
          <a:bodyPr/>
          <a:lstStyle/>
          <a:p>
            <a:endParaRPr lang="en-US"/>
          </a:p>
        </p:txBody>
      </p:sp>
      <p:sp>
        <p:nvSpPr>
          <p:cNvPr id="3" name="Text 1"/>
          <p:cNvSpPr/>
          <p:nvPr/>
        </p:nvSpPr>
        <p:spPr>
          <a:xfrm>
            <a:off x="365760" y="0"/>
            <a:ext cx="8229600" cy="512064"/>
          </a:xfrm>
          <a:prstGeom prst="rect">
            <a:avLst/>
          </a:prstGeom>
          <a:noFill/>
          <a:ln/>
        </p:spPr>
        <p:txBody>
          <a:bodyPr wrap="square" lIns="0" tIns="0" rIns="0" bIns="0" rtlCol="0" anchor="ctr"/>
          <a:lstStyle/>
          <a:p>
            <a:pPr marL="0" indent="0">
              <a:buNone/>
            </a:pPr>
            <a:r>
              <a:rPr lang="en-US" sz="2200" b="1" dirty="0">
                <a:solidFill>
                  <a:srgbClr val="FFFFFF"/>
                </a:solidFill>
              </a:rPr>
              <a:t>Challenges and Conclusion</a:t>
            </a:r>
            <a:endParaRPr lang="en-US" sz="2200" dirty="0"/>
          </a:p>
        </p:txBody>
      </p:sp>
      <p:sp>
        <p:nvSpPr>
          <p:cNvPr id="4" name="Text 2"/>
          <p:cNvSpPr/>
          <p:nvPr/>
        </p:nvSpPr>
        <p:spPr>
          <a:xfrm>
            <a:off x="365760" y="493776"/>
            <a:ext cx="8229600" cy="164592"/>
          </a:xfrm>
          <a:prstGeom prst="rect">
            <a:avLst/>
          </a:prstGeom>
          <a:noFill/>
          <a:ln/>
        </p:spPr>
        <p:txBody>
          <a:bodyPr wrap="square" lIns="0" tIns="0" rIns="0" bIns="0" rtlCol="0" anchor="ctr"/>
          <a:lstStyle/>
          <a:p>
            <a:pPr marL="0" indent="0">
              <a:buNone/>
            </a:pPr>
            <a:r>
              <a:rPr lang="en-US" sz="800" dirty="0">
                <a:solidFill>
                  <a:srgbClr val="A8C4E0"/>
                </a:solidFill>
              </a:rPr>
              <a:t>Bank Churn Intelligence System  ·  Honest Assessment</a:t>
            </a:r>
            <a:endParaRPr lang="en-US" sz="800" dirty="0"/>
          </a:p>
        </p:txBody>
      </p:sp>
      <p:sp>
        <p:nvSpPr>
          <p:cNvPr id="5" name="Shape 3"/>
          <p:cNvSpPr/>
          <p:nvPr/>
        </p:nvSpPr>
        <p:spPr>
          <a:xfrm>
            <a:off x="228600" y="822960"/>
            <a:ext cx="4160520" cy="4069080"/>
          </a:xfrm>
          <a:prstGeom prst="roundRect">
            <a:avLst>
              <a:gd name="adj" fmla="val 2247"/>
            </a:avLst>
          </a:prstGeom>
          <a:solidFill>
            <a:srgbClr val="FFF5F5"/>
          </a:solidFill>
          <a:ln w="13970">
            <a:solidFill>
              <a:srgbClr val="E74C3C"/>
            </a:solidFill>
            <a:prstDash val="solid"/>
          </a:ln>
          <a:effectLst>
            <a:outerShdw blurRad="50800" dist="25400" dir="2700000" algn="bl" rotWithShape="0">
              <a:srgbClr val="000000">
                <a:alpha val="7000"/>
              </a:srgbClr>
            </a:outerShdw>
          </a:effectLst>
        </p:spPr>
        <p:txBody>
          <a:bodyPr/>
          <a:lstStyle/>
          <a:p>
            <a:endParaRPr lang="en-US"/>
          </a:p>
        </p:txBody>
      </p:sp>
      <p:sp>
        <p:nvSpPr>
          <p:cNvPr id="6" name="Text 4"/>
          <p:cNvSpPr/>
          <p:nvPr/>
        </p:nvSpPr>
        <p:spPr>
          <a:xfrm>
            <a:off x="384048" y="905256"/>
            <a:ext cx="3840480" cy="256032"/>
          </a:xfrm>
          <a:prstGeom prst="rect">
            <a:avLst/>
          </a:prstGeom>
          <a:noFill/>
          <a:ln/>
        </p:spPr>
        <p:txBody>
          <a:bodyPr wrap="square" lIns="0" tIns="0" rIns="0" bIns="0" rtlCol="0" anchor="ctr"/>
          <a:lstStyle/>
          <a:p>
            <a:pPr marL="0" indent="0">
              <a:buNone/>
            </a:pPr>
            <a:r>
              <a:rPr lang="en-US" sz="950" b="1" dirty="0">
                <a:solidFill>
                  <a:srgbClr val="C0392B"/>
                </a:solidFill>
              </a:rPr>
              <a:t>⚠️  CHALLENGES</a:t>
            </a:r>
            <a:endParaRPr lang="en-US" sz="950" dirty="0"/>
          </a:p>
        </p:txBody>
      </p:sp>
      <p:sp>
        <p:nvSpPr>
          <p:cNvPr id="7" name="Shape 5"/>
          <p:cNvSpPr/>
          <p:nvPr/>
        </p:nvSpPr>
        <p:spPr>
          <a:xfrm>
            <a:off x="365760" y="1243584"/>
            <a:ext cx="3886200" cy="658368"/>
          </a:xfrm>
          <a:prstGeom prst="roundRect">
            <a:avLst>
              <a:gd name="adj" fmla="val 9722"/>
            </a:avLst>
          </a:prstGeom>
          <a:solidFill>
            <a:srgbClr val="FEF0F0"/>
          </a:solidFill>
          <a:ln w="6350">
            <a:solidFill>
              <a:srgbClr val="F1948A"/>
            </a:solidFill>
            <a:prstDash val="solid"/>
          </a:ln>
        </p:spPr>
        <p:txBody>
          <a:bodyPr/>
          <a:lstStyle/>
          <a:p>
            <a:endParaRPr lang="en-US"/>
          </a:p>
        </p:txBody>
      </p:sp>
      <p:sp>
        <p:nvSpPr>
          <p:cNvPr id="8" name="Text 6"/>
          <p:cNvSpPr/>
          <p:nvPr/>
        </p:nvSpPr>
        <p:spPr>
          <a:xfrm>
            <a:off x="475488" y="1307592"/>
            <a:ext cx="3657600" cy="182880"/>
          </a:xfrm>
          <a:prstGeom prst="rect">
            <a:avLst/>
          </a:prstGeom>
          <a:noFill/>
          <a:ln/>
        </p:spPr>
        <p:txBody>
          <a:bodyPr wrap="square" lIns="0" tIns="0" rIns="0" bIns="0" rtlCol="0" anchor="ctr"/>
          <a:lstStyle/>
          <a:p>
            <a:pPr marL="0" indent="0">
              <a:buNone/>
            </a:pPr>
            <a:r>
              <a:rPr lang="en-US" sz="850" b="1" dirty="0">
                <a:solidFill>
                  <a:srgbClr val="C0392B"/>
                </a:solidFill>
              </a:rPr>
              <a:t>AI still needs a data scientist first</a:t>
            </a:r>
            <a:endParaRPr lang="en-US" sz="850" dirty="0"/>
          </a:p>
        </p:txBody>
      </p:sp>
      <p:sp>
        <p:nvSpPr>
          <p:cNvPr id="9" name="Text 7"/>
          <p:cNvSpPr/>
          <p:nvPr/>
        </p:nvSpPr>
        <p:spPr>
          <a:xfrm>
            <a:off x="475488" y="1517904"/>
            <a:ext cx="3657600" cy="173736"/>
          </a:xfrm>
          <a:prstGeom prst="rect">
            <a:avLst/>
          </a:prstGeom>
          <a:noFill/>
          <a:ln/>
        </p:spPr>
        <p:txBody>
          <a:bodyPr wrap="square" lIns="0" tIns="0" rIns="0" bIns="0" rtlCol="0" anchor="ctr"/>
          <a:lstStyle/>
          <a:p>
            <a:pPr marL="0" indent="0">
              <a:buNone/>
            </a:pPr>
            <a:r>
              <a:rPr lang="en-US" sz="780" dirty="0">
                <a:solidFill>
                  <a:srgbClr val="374151"/>
                </a:solidFill>
              </a:rPr>
              <a:t>·  Model must be built and validated by a human</a:t>
            </a:r>
            <a:endParaRPr lang="en-US" sz="780" dirty="0"/>
          </a:p>
        </p:txBody>
      </p:sp>
      <p:sp>
        <p:nvSpPr>
          <p:cNvPr id="10" name="Text 8"/>
          <p:cNvSpPr/>
          <p:nvPr/>
        </p:nvSpPr>
        <p:spPr>
          <a:xfrm>
            <a:off x="475488" y="1691640"/>
            <a:ext cx="3657600" cy="173736"/>
          </a:xfrm>
          <a:prstGeom prst="rect">
            <a:avLst/>
          </a:prstGeom>
          <a:noFill/>
          <a:ln/>
        </p:spPr>
        <p:txBody>
          <a:bodyPr wrap="square" lIns="0" tIns="0" rIns="0" bIns="0" rtlCol="0" anchor="ctr"/>
          <a:lstStyle/>
          <a:p>
            <a:pPr marL="0" indent="0">
              <a:buNone/>
            </a:pPr>
            <a:r>
              <a:rPr lang="en-US" sz="780" dirty="0">
                <a:solidFill>
                  <a:srgbClr val="374151"/>
                </a:solidFill>
              </a:rPr>
              <a:t>·  Domain knowledge cannot be automated</a:t>
            </a:r>
            <a:endParaRPr lang="en-US" sz="780" dirty="0"/>
          </a:p>
        </p:txBody>
      </p:sp>
      <p:sp>
        <p:nvSpPr>
          <p:cNvPr id="11" name="Shape 9"/>
          <p:cNvSpPr/>
          <p:nvPr/>
        </p:nvSpPr>
        <p:spPr>
          <a:xfrm>
            <a:off x="365760" y="2011680"/>
            <a:ext cx="3886200" cy="841248"/>
          </a:xfrm>
          <a:prstGeom prst="roundRect">
            <a:avLst>
              <a:gd name="adj" fmla="val 7609"/>
            </a:avLst>
          </a:prstGeom>
          <a:solidFill>
            <a:srgbClr val="FEF0F0"/>
          </a:solidFill>
          <a:ln w="6350">
            <a:solidFill>
              <a:srgbClr val="F1948A"/>
            </a:solidFill>
            <a:prstDash val="solid"/>
          </a:ln>
        </p:spPr>
        <p:txBody>
          <a:bodyPr/>
          <a:lstStyle/>
          <a:p>
            <a:endParaRPr lang="en-US"/>
          </a:p>
        </p:txBody>
      </p:sp>
      <p:sp>
        <p:nvSpPr>
          <p:cNvPr id="12" name="Text 10"/>
          <p:cNvSpPr/>
          <p:nvPr/>
        </p:nvSpPr>
        <p:spPr>
          <a:xfrm>
            <a:off x="475488" y="2075688"/>
            <a:ext cx="3657600" cy="182880"/>
          </a:xfrm>
          <a:prstGeom prst="rect">
            <a:avLst/>
          </a:prstGeom>
          <a:noFill/>
          <a:ln/>
        </p:spPr>
        <p:txBody>
          <a:bodyPr wrap="square" lIns="0" tIns="0" rIns="0" bIns="0" rtlCol="0" anchor="ctr"/>
          <a:lstStyle/>
          <a:p>
            <a:pPr marL="0" indent="0">
              <a:buNone/>
            </a:pPr>
            <a:r>
              <a:rPr lang="en-US" sz="850" b="1" dirty="0">
                <a:solidFill>
                  <a:srgbClr val="C0392B"/>
                </a:solidFill>
              </a:rPr>
              <a:t>REPL tool is not a data scientist</a:t>
            </a:r>
            <a:endParaRPr lang="en-US" sz="850" dirty="0"/>
          </a:p>
        </p:txBody>
      </p:sp>
      <p:sp>
        <p:nvSpPr>
          <p:cNvPr id="13" name="Text 11"/>
          <p:cNvSpPr/>
          <p:nvPr/>
        </p:nvSpPr>
        <p:spPr>
          <a:xfrm>
            <a:off x="475488" y="2286000"/>
            <a:ext cx="3657600" cy="173736"/>
          </a:xfrm>
          <a:prstGeom prst="rect">
            <a:avLst/>
          </a:prstGeom>
          <a:noFill/>
          <a:ln/>
        </p:spPr>
        <p:txBody>
          <a:bodyPr wrap="square" lIns="0" tIns="0" rIns="0" bIns="0" rtlCol="0" anchor="ctr"/>
          <a:lstStyle/>
          <a:p>
            <a:pPr marL="0" indent="0">
              <a:buNone/>
            </a:pPr>
            <a:r>
              <a:rPr lang="en-US" sz="780" dirty="0">
                <a:solidFill>
                  <a:srgbClr val="374151"/>
                </a:solidFill>
              </a:rPr>
              <a:t>·  Works for simple aggregations</a:t>
            </a:r>
            <a:endParaRPr lang="en-US" sz="780" dirty="0"/>
          </a:p>
        </p:txBody>
      </p:sp>
      <p:sp>
        <p:nvSpPr>
          <p:cNvPr id="14" name="Text 12"/>
          <p:cNvSpPr/>
          <p:nvPr/>
        </p:nvSpPr>
        <p:spPr>
          <a:xfrm>
            <a:off x="475488" y="2459736"/>
            <a:ext cx="3657600" cy="173736"/>
          </a:xfrm>
          <a:prstGeom prst="rect">
            <a:avLst/>
          </a:prstGeom>
          <a:noFill/>
          <a:ln/>
        </p:spPr>
        <p:txBody>
          <a:bodyPr wrap="square" lIns="0" tIns="0" rIns="0" bIns="0" rtlCol="0" anchor="ctr"/>
          <a:lstStyle/>
          <a:p>
            <a:pPr marL="0" indent="0">
              <a:buNone/>
            </a:pPr>
            <a:r>
              <a:rPr lang="en-US" sz="780" dirty="0">
                <a:solidFill>
                  <a:srgbClr val="374151"/>
                </a:solidFill>
              </a:rPr>
              <a:t>·  Fails on complex domain-specific logic</a:t>
            </a:r>
            <a:endParaRPr lang="en-US" sz="780" dirty="0"/>
          </a:p>
        </p:txBody>
      </p:sp>
      <p:sp>
        <p:nvSpPr>
          <p:cNvPr id="15" name="Text 13"/>
          <p:cNvSpPr/>
          <p:nvPr/>
        </p:nvSpPr>
        <p:spPr>
          <a:xfrm>
            <a:off x="475488" y="2633472"/>
            <a:ext cx="3657600" cy="173736"/>
          </a:xfrm>
          <a:prstGeom prst="rect">
            <a:avLst/>
          </a:prstGeom>
          <a:noFill/>
          <a:ln/>
        </p:spPr>
        <p:txBody>
          <a:bodyPr wrap="square" lIns="0" tIns="0" rIns="0" bIns="0" rtlCol="0" anchor="ctr"/>
          <a:lstStyle/>
          <a:p>
            <a:pPr marL="0" indent="0">
              <a:buNone/>
            </a:pPr>
            <a:r>
              <a:rPr lang="en-US" sz="780" dirty="0">
                <a:solidFill>
                  <a:srgbClr val="374151"/>
                </a:solidFill>
              </a:rPr>
              <a:t>·  Silent wrong answers are dangerous in banking</a:t>
            </a:r>
            <a:endParaRPr lang="en-US" sz="780" dirty="0"/>
          </a:p>
        </p:txBody>
      </p:sp>
      <p:sp>
        <p:nvSpPr>
          <p:cNvPr id="16" name="Shape 14"/>
          <p:cNvSpPr/>
          <p:nvPr/>
        </p:nvSpPr>
        <p:spPr>
          <a:xfrm>
            <a:off x="365760" y="2962656"/>
            <a:ext cx="3886200" cy="841248"/>
          </a:xfrm>
          <a:prstGeom prst="roundRect">
            <a:avLst>
              <a:gd name="adj" fmla="val 7609"/>
            </a:avLst>
          </a:prstGeom>
          <a:solidFill>
            <a:srgbClr val="FEF0F0"/>
          </a:solidFill>
          <a:ln w="6350">
            <a:solidFill>
              <a:srgbClr val="F1948A"/>
            </a:solidFill>
            <a:prstDash val="solid"/>
          </a:ln>
        </p:spPr>
        <p:txBody>
          <a:bodyPr/>
          <a:lstStyle/>
          <a:p>
            <a:endParaRPr lang="en-US"/>
          </a:p>
        </p:txBody>
      </p:sp>
      <p:sp>
        <p:nvSpPr>
          <p:cNvPr id="17" name="Text 15"/>
          <p:cNvSpPr/>
          <p:nvPr/>
        </p:nvSpPr>
        <p:spPr>
          <a:xfrm>
            <a:off x="475488" y="3026664"/>
            <a:ext cx="3657600" cy="182880"/>
          </a:xfrm>
          <a:prstGeom prst="rect">
            <a:avLst/>
          </a:prstGeom>
          <a:noFill/>
          <a:ln/>
        </p:spPr>
        <p:txBody>
          <a:bodyPr wrap="square" lIns="0" tIns="0" rIns="0" bIns="0" rtlCol="0" anchor="ctr"/>
          <a:lstStyle/>
          <a:p>
            <a:pPr marL="0" indent="0">
              <a:buNone/>
            </a:pPr>
            <a:r>
              <a:rPr lang="en-US" sz="850" b="1" dirty="0">
                <a:solidFill>
                  <a:srgbClr val="C0392B"/>
                </a:solidFill>
              </a:rPr>
              <a:t>Data exposure needs governance</a:t>
            </a:r>
            <a:endParaRPr lang="en-US" sz="850" dirty="0"/>
          </a:p>
        </p:txBody>
      </p:sp>
      <p:sp>
        <p:nvSpPr>
          <p:cNvPr id="18" name="Text 16"/>
          <p:cNvSpPr/>
          <p:nvPr/>
        </p:nvSpPr>
        <p:spPr>
          <a:xfrm>
            <a:off x="475488" y="3236976"/>
            <a:ext cx="3657600" cy="173736"/>
          </a:xfrm>
          <a:prstGeom prst="rect">
            <a:avLst/>
          </a:prstGeom>
          <a:noFill/>
          <a:ln/>
        </p:spPr>
        <p:txBody>
          <a:bodyPr wrap="square" lIns="0" tIns="0" rIns="0" bIns="0" rtlCol="0" anchor="ctr"/>
          <a:lstStyle/>
          <a:p>
            <a:pPr marL="0" indent="0">
              <a:buNone/>
            </a:pPr>
            <a:r>
              <a:rPr lang="en-US" sz="780" dirty="0">
                <a:solidFill>
                  <a:srgbClr val="374151"/>
                </a:solidFill>
              </a:rPr>
              <a:t>·  Row-level attributes go to third-party API</a:t>
            </a:r>
            <a:endParaRPr lang="en-US" sz="780" dirty="0"/>
          </a:p>
        </p:txBody>
      </p:sp>
      <p:sp>
        <p:nvSpPr>
          <p:cNvPr id="19" name="Text 17"/>
          <p:cNvSpPr/>
          <p:nvPr/>
        </p:nvSpPr>
        <p:spPr>
          <a:xfrm>
            <a:off x="475488" y="3410712"/>
            <a:ext cx="3657600" cy="173736"/>
          </a:xfrm>
          <a:prstGeom prst="rect">
            <a:avLst/>
          </a:prstGeom>
          <a:noFill/>
          <a:ln/>
        </p:spPr>
        <p:txBody>
          <a:bodyPr wrap="square" lIns="0" tIns="0" rIns="0" bIns="0" rtlCol="0" anchor="ctr"/>
          <a:lstStyle/>
          <a:p>
            <a:pPr marL="0" indent="0">
              <a:buNone/>
            </a:pPr>
            <a:r>
              <a:rPr lang="en-US" sz="780" dirty="0">
                <a:solidFill>
                  <a:srgbClr val="374151"/>
                </a:solidFill>
              </a:rPr>
              <a:t>·  Requires vendor risk assessment or local LLM</a:t>
            </a:r>
            <a:endParaRPr lang="en-US" sz="780" dirty="0"/>
          </a:p>
        </p:txBody>
      </p:sp>
      <p:sp>
        <p:nvSpPr>
          <p:cNvPr id="20" name="Text 18"/>
          <p:cNvSpPr/>
          <p:nvPr/>
        </p:nvSpPr>
        <p:spPr>
          <a:xfrm>
            <a:off x="475488" y="3584448"/>
            <a:ext cx="3657600" cy="173736"/>
          </a:xfrm>
          <a:prstGeom prst="rect">
            <a:avLst/>
          </a:prstGeom>
          <a:noFill/>
          <a:ln/>
        </p:spPr>
        <p:txBody>
          <a:bodyPr wrap="square" lIns="0" tIns="0" rIns="0" bIns="0" rtlCol="0" anchor="ctr"/>
          <a:lstStyle/>
          <a:p>
            <a:pPr marL="0" indent="0">
              <a:buNone/>
            </a:pPr>
            <a:r>
              <a:rPr lang="en-US" sz="780" dirty="0">
                <a:solidFill>
                  <a:srgbClr val="374151"/>
                </a:solidFill>
              </a:rPr>
              <a:t>·  Same data policies apply as any system</a:t>
            </a:r>
            <a:endParaRPr lang="en-US" sz="780" dirty="0"/>
          </a:p>
        </p:txBody>
      </p:sp>
      <p:sp>
        <p:nvSpPr>
          <p:cNvPr id="21" name="Shape 19"/>
          <p:cNvSpPr/>
          <p:nvPr/>
        </p:nvSpPr>
        <p:spPr>
          <a:xfrm>
            <a:off x="365760" y="3913632"/>
            <a:ext cx="3886200" cy="658368"/>
          </a:xfrm>
          <a:prstGeom prst="roundRect">
            <a:avLst>
              <a:gd name="adj" fmla="val 9722"/>
            </a:avLst>
          </a:prstGeom>
          <a:solidFill>
            <a:srgbClr val="FEF0F0"/>
          </a:solidFill>
          <a:ln w="6350">
            <a:solidFill>
              <a:srgbClr val="F1948A"/>
            </a:solidFill>
            <a:prstDash val="solid"/>
          </a:ln>
        </p:spPr>
        <p:txBody>
          <a:bodyPr/>
          <a:lstStyle/>
          <a:p>
            <a:endParaRPr lang="en-US"/>
          </a:p>
        </p:txBody>
      </p:sp>
      <p:sp>
        <p:nvSpPr>
          <p:cNvPr id="22" name="Text 20"/>
          <p:cNvSpPr/>
          <p:nvPr/>
        </p:nvSpPr>
        <p:spPr>
          <a:xfrm>
            <a:off x="475488" y="3977640"/>
            <a:ext cx="3657600" cy="182880"/>
          </a:xfrm>
          <a:prstGeom prst="rect">
            <a:avLst/>
          </a:prstGeom>
          <a:noFill/>
          <a:ln/>
        </p:spPr>
        <p:txBody>
          <a:bodyPr wrap="square" lIns="0" tIns="0" rIns="0" bIns="0" rtlCol="0" anchor="ctr"/>
          <a:lstStyle/>
          <a:p>
            <a:pPr marL="0" indent="0">
              <a:buNone/>
            </a:pPr>
            <a:r>
              <a:rPr lang="en-US" sz="850" b="1" dirty="0">
                <a:solidFill>
                  <a:srgbClr val="C0392B"/>
                </a:solidFill>
              </a:rPr>
              <a:t>Agent answers can vary</a:t>
            </a:r>
            <a:endParaRPr lang="en-US" sz="850" dirty="0"/>
          </a:p>
        </p:txBody>
      </p:sp>
      <p:sp>
        <p:nvSpPr>
          <p:cNvPr id="23" name="Text 21"/>
          <p:cNvSpPr/>
          <p:nvPr/>
        </p:nvSpPr>
        <p:spPr>
          <a:xfrm>
            <a:off x="475488" y="4187952"/>
            <a:ext cx="3657600" cy="173736"/>
          </a:xfrm>
          <a:prstGeom prst="rect">
            <a:avLst/>
          </a:prstGeom>
          <a:noFill/>
          <a:ln/>
        </p:spPr>
        <p:txBody>
          <a:bodyPr wrap="square" lIns="0" tIns="0" rIns="0" bIns="0" rtlCol="0" anchor="ctr"/>
          <a:lstStyle/>
          <a:p>
            <a:pPr marL="0" indent="0">
              <a:buNone/>
            </a:pPr>
            <a:r>
              <a:rPr lang="en-US" sz="780" dirty="0">
                <a:solidFill>
                  <a:srgbClr val="374151"/>
                </a:solidFill>
              </a:rPr>
              <a:t>·  LLMs are probabilistic not deterministic</a:t>
            </a:r>
            <a:endParaRPr lang="en-US" sz="780" dirty="0"/>
          </a:p>
        </p:txBody>
      </p:sp>
      <p:sp>
        <p:nvSpPr>
          <p:cNvPr id="24" name="Text 22"/>
          <p:cNvSpPr/>
          <p:nvPr/>
        </p:nvSpPr>
        <p:spPr>
          <a:xfrm>
            <a:off x="475488" y="4361688"/>
            <a:ext cx="3657600" cy="173736"/>
          </a:xfrm>
          <a:prstGeom prst="rect">
            <a:avLst/>
          </a:prstGeom>
          <a:noFill/>
          <a:ln/>
        </p:spPr>
        <p:txBody>
          <a:bodyPr wrap="square" lIns="0" tIns="0" rIns="0" bIns="0" rtlCol="0" anchor="ctr"/>
          <a:lstStyle/>
          <a:p>
            <a:pPr marL="0" indent="0">
              <a:buNone/>
            </a:pPr>
            <a:r>
              <a:rPr lang="en-US" sz="780" dirty="0">
                <a:solidFill>
                  <a:srgbClr val="374151"/>
                </a:solidFill>
              </a:rPr>
              <a:t>·  Same question can get slightly different answers</a:t>
            </a:r>
            <a:endParaRPr lang="en-US" sz="780" dirty="0"/>
          </a:p>
        </p:txBody>
      </p:sp>
      <p:sp>
        <p:nvSpPr>
          <p:cNvPr id="25" name="Shape 23"/>
          <p:cNvSpPr/>
          <p:nvPr/>
        </p:nvSpPr>
        <p:spPr>
          <a:xfrm>
            <a:off x="4754880" y="822960"/>
            <a:ext cx="4160520" cy="4069080"/>
          </a:xfrm>
          <a:prstGeom prst="roundRect">
            <a:avLst>
              <a:gd name="adj" fmla="val 2247"/>
            </a:avLst>
          </a:prstGeom>
          <a:solidFill>
            <a:srgbClr val="F0FFF4"/>
          </a:solidFill>
          <a:ln w="13970">
            <a:solidFill>
              <a:srgbClr val="27AE60"/>
            </a:solidFill>
            <a:prstDash val="solid"/>
          </a:ln>
          <a:effectLst>
            <a:outerShdw blurRad="50800" dist="25400" dir="2700000" algn="bl" rotWithShape="0">
              <a:srgbClr val="000000">
                <a:alpha val="7000"/>
              </a:srgbClr>
            </a:outerShdw>
          </a:effectLst>
        </p:spPr>
        <p:txBody>
          <a:bodyPr/>
          <a:lstStyle/>
          <a:p>
            <a:endParaRPr lang="en-US"/>
          </a:p>
        </p:txBody>
      </p:sp>
      <p:sp>
        <p:nvSpPr>
          <p:cNvPr id="26" name="Text 24"/>
          <p:cNvSpPr/>
          <p:nvPr/>
        </p:nvSpPr>
        <p:spPr>
          <a:xfrm>
            <a:off x="4910328" y="905256"/>
            <a:ext cx="3840480" cy="256032"/>
          </a:xfrm>
          <a:prstGeom prst="rect">
            <a:avLst/>
          </a:prstGeom>
          <a:noFill/>
          <a:ln/>
        </p:spPr>
        <p:txBody>
          <a:bodyPr wrap="square" lIns="0" tIns="0" rIns="0" bIns="0" rtlCol="0" anchor="ctr"/>
          <a:lstStyle/>
          <a:p>
            <a:pPr marL="0" indent="0">
              <a:buNone/>
            </a:pPr>
            <a:r>
              <a:rPr lang="en-US" sz="950" b="1" dirty="0">
                <a:solidFill>
                  <a:srgbClr val="1E8449"/>
                </a:solidFill>
              </a:rPr>
              <a:t>✅  CONCLUSION</a:t>
            </a:r>
            <a:endParaRPr lang="en-US" sz="950" dirty="0"/>
          </a:p>
        </p:txBody>
      </p:sp>
      <p:sp>
        <p:nvSpPr>
          <p:cNvPr id="27" name="Shape 25"/>
          <p:cNvSpPr/>
          <p:nvPr/>
        </p:nvSpPr>
        <p:spPr>
          <a:xfrm>
            <a:off x="4892040" y="1243584"/>
            <a:ext cx="3886200" cy="1261872"/>
          </a:xfrm>
          <a:prstGeom prst="roundRect">
            <a:avLst>
              <a:gd name="adj" fmla="val 5072"/>
            </a:avLst>
          </a:prstGeom>
          <a:solidFill>
            <a:srgbClr val="E8F8EE"/>
          </a:solidFill>
          <a:ln w="6350">
            <a:solidFill>
              <a:srgbClr val="82E0AA"/>
            </a:solidFill>
            <a:prstDash val="solid"/>
          </a:ln>
        </p:spPr>
        <p:txBody>
          <a:bodyPr/>
          <a:lstStyle/>
          <a:p>
            <a:endParaRPr lang="en-US"/>
          </a:p>
        </p:txBody>
      </p:sp>
      <p:sp>
        <p:nvSpPr>
          <p:cNvPr id="28" name="Text 26"/>
          <p:cNvSpPr/>
          <p:nvPr/>
        </p:nvSpPr>
        <p:spPr>
          <a:xfrm>
            <a:off x="5010912" y="1307592"/>
            <a:ext cx="3657600" cy="201168"/>
          </a:xfrm>
          <a:prstGeom prst="rect">
            <a:avLst/>
          </a:prstGeom>
          <a:noFill/>
          <a:ln/>
        </p:spPr>
        <p:txBody>
          <a:bodyPr wrap="square" lIns="0" tIns="0" rIns="0" bIns="0" rtlCol="0" anchor="ctr"/>
          <a:lstStyle/>
          <a:p>
            <a:pPr marL="0" indent="0">
              <a:buNone/>
            </a:pPr>
            <a:r>
              <a:rPr lang="en-US" sz="850" b="1" dirty="0">
                <a:solidFill>
                  <a:srgbClr val="1E8449"/>
                </a:solidFill>
              </a:rPr>
              <a:t>What this system actually is:</a:t>
            </a:r>
            <a:endParaRPr lang="en-US" sz="850" dirty="0"/>
          </a:p>
        </p:txBody>
      </p:sp>
      <p:sp>
        <p:nvSpPr>
          <p:cNvPr id="29" name="Text 27"/>
          <p:cNvSpPr/>
          <p:nvPr/>
        </p:nvSpPr>
        <p:spPr>
          <a:xfrm>
            <a:off x="5010912" y="1536192"/>
            <a:ext cx="3657600" cy="182880"/>
          </a:xfrm>
          <a:prstGeom prst="rect">
            <a:avLst/>
          </a:prstGeom>
          <a:noFill/>
          <a:ln/>
        </p:spPr>
        <p:txBody>
          <a:bodyPr wrap="square" lIns="0" tIns="0" rIns="0" bIns="0" rtlCol="0" anchor="ctr"/>
          <a:lstStyle/>
          <a:p>
            <a:pPr marL="0" indent="0">
              <a:buNone/>
            </a:pPr>
            <a:r>
              <a:rPr lang="en-US" sz="780" dirty="0">
                <a:solidFill>
                  <a:srgbClr val="374151"/>
                </a:solidFill>
              </a:rPr>
              <a:t>·  DS builds and validates the model (unchanged)</a:t>
            </a:r>
            <a:endParaRPr lang="en-US" sz="780" dirty="0"/>
          </a:p>
        </p:txBody>
      </p:sp>
      <p:sp>
        <p:nvSpPr>
          <p:cNvPr id="30" name="Text 28"/>
          <p:cNvSpPr/>
          <p:nvPr/>
        </p:nvSpPr>
        <p:spPr>
          <a:xfrm>
            <a:off x="5010912" y="1719072"/>
            <a:ext cx="3657600" cy="182880"/>
          </a:xfrm>
          <a:prstGeom prst="rect">
            <a:avLst/>
          </a:prstGeom>
          <a:noFill/>
          <a:ln/>
        </p:spPr>
        <p:txBody>
          <a:bodyPr wrap="square" lIns="0" tIns="0" rIns="0" bIns="0" rtlCol="0" anchor="ctr"/>
          <a:lstStyle/>
          <a:p>
            <a:pPr marL="0" indent="0">
              <a:buNone/>
            </a:pPr>
            <a:r>
              <a:rPr lang="en-US" sz="780" dirty="0">
                <a:solidFill>
                  <a:srgbClr val="374151"/>
                </a:solidFill>
              </a:rPr>
              <a:t>·  Model outputs wrapped as callable tools</a:t>
            </a:r>
            <a:endParaRPr lang="en-US" sz="780" dirty="0"/>
          </a:p>
        </p:txBody>
      </p:sp>
      <p:sp>
        <p:nvSpPr>
          <p:cNvPr id="31" name="Text 29"/>
          <p:cNvSpPr/>
          <p:nvPr/>
        </p:nvSpPr>
        <p:spPr>
          <a:xfrm>
            <a:off x="5010912" y="1901952"/>
            <a:ext cx="3657600" cy="182880"/>
          </a:xfrm>
          <a:prstGeom prst="rect">
            <a:avLst/>
          </a:prstGeom>
          <a:noFill/>
          <a:ln/>
        </p:spPr>
        <p:txBody>
          <a:bodyPr wrap="square" lIns="0" tIns="0" rIns="0" bIns="0" rtlCol="0" anchor="ctr"/>
          <a:lstStyle/>
          <a:p>
            <a:pPr marL="0" indent="0">
              <a:buNone/>
            </a:pPr>
            <a:r>
              <a:rPr lang="en-US" sz="780" dirty="0">
                <a:solidFill>
                  <a:srgbClr val="374151"/>
                </a:solidFill>
              </a:rPr>
              <a:t>·  AI reasoning agent sits on top as the interface</a:t>
            </a:r>
            <a:endParaRPr lang="en-US" sz="780" dirty="0"/>
          </a:p>
        </p:txBody>
      </p:sp>
      <p:sp>
        <p:nvSpPr>
          <p:cNvPr id="32" name="Text 30"/>
          <p:cNvSpPr/>
          <p:nvPr/>
        </p:nvSpPr>
        <p:spPr>
          <a:xfrm>
            <a:off x="5010912" y="2084832"/>
            <a:ext cx="3657600" cy="182880"/>
          </a:xfrm>
          <a:prstGeom prst="rect">
            <a:avLst/>
          </a:prstGeom>
          <a:noFill/>
          <a:ln/>
        </p:spPr>
        <p:txBody>
          <a:bodyPr wrap="square" lIns="0" tIns="0" rIns="0" bIns="0" rtlCol="0" anchor="ctr"/>
          <a:lstStyle/>
          <a:p>
            <a:pPr marL="0" indent="0">
              <a:buNone/>
            </a:pPr>
            <a:r>
              <a:rPr lang="en-US" sz="780" dirty="0">
                <a:solidFill>
                  <a:srgbClr val="374151"/>
                </a:solidFill>
              </a:rPr>
              <a:t>·  Any team queries the model in plain English</a:t>
            </a:r>
            <a:endParaRPr lang="en-US" sz="780" dirty="0"/>
          </a:p>
        </p:txBody>
      </p:sp>
      <p:sp>
        <p:nvSpPr>
          <p:cNvPr id="33" name="Text 31"/>
          <p:cNvSpPr/>
          <p:nvPr/>
        </p:nvSpPr>
        <p:spPr>
          <a:xfrm>
            <a:off x="5010912" y="2267712"/>
            <a:ext cx="3657600" cy="182880"/>
          </a:xfrm>
          <a:prstGeom prst="rect">
            <a:avLst/>
          </a:prstGeom>
          <a:noFill/>
          <a:ln/>
        </p:spPr>
        <p:txBody>
          <a:bodyPr wrap="square" lIns="0" tIns="0" rIns="0" bIns="0" rtlCol="0" anchor="ctr"/>
          <a:lstStyle/>
          <a:p>
            <a:pPr marL="0" indent="0">
              <a:buNone/>
            </a:pPr>
            <a:r>
              <a:rPr lang="en-US" sz="780" dirty="0">
                <a:solidFill>
                  <a:srgbClr val="374151"/>
                </a:solidFill>
              </a:rPr>
              <a:t>·  No SQL. No waiting. No DS in the loop.</a:t>
            </a:r>
            <a:endParaRPr lang="en-US" sz="780" dirty="0"/>
          </a:p>
        </p:txBody>
      </p:sp>
      <p:sp>
        <p:nvSpPr>
          <p:cNvPr id="34" name="Shape 32"/>
          <p:cNvSpPr/>
          <p:nvPr/>
        </p:nvSpPr>
        <p:spPr>
          <a:xfrm>
            <a:off x="4892040" y="2578608"/>
            <a:ext cx="3886200" cy="1078992"/>
          </a:xfrm>
          <a:prstGeom prst="roundRect">
            <a:avLst>
              <a:gd name="adj" fmla="val 5932"/>
            </a:avLst>
          </a:prstGeom>
          <a:solidFill>
            <a:srgbClr val="E8F8EE"/>
          </a:solidFill>
          <a:ln w="6350">
            <a:solidFill>
              <a:srgbClr val="82E0AA"/>
            </a:solidFill>
            <a:prstDash val="solid"/>
          </a:ln>
        </p:spPr>
        <p:txBody>
          <a:bodyPr/>
          <a:lstStyle/>
          <a:p>
            <a:endParaRPr lang="en-US"/>
          </a:p>
        </p:txBody>
      </p:sp>
      <p:sp>
        <p:nvSpPr>
          <p:cNvPr id="35" name="Text 33"/>
          <p:cNvSpPr/>
          <p:nvPr/>
        </p:nvSpPr>
        <p:spPr>
          <a:xfrm>
            <a:off x="5010912" y="2642616"/>
            <a:ext cx="3657600" cy="201168"/>
          </a:xfrm>
          <a:prstGeom prst="rect">
            <a:avLst/>
          </a:prstGeom>
          <a:noFill/>
          <a:ln/>
        </p:spPr>
        <p:txBody>
          <a:bodyPr wrap="square" lIns="0" tIns="0" rIns="0" bIns="0" rtlCol="0" anchor="ctr"/>
          <a:lstStyle/>
          <a:p>
            <a:pPr marL="0" indent="0">
              <a:buNone/>
            </a:pPr>
            <a:r>
              <a:rPr lang="en-US" sz="850" b="1" dirty="0">
                <a:solidFill>
                  <a:srgbClr val="1E8449"/>
                </a:solidFill>
              </a:rPr>
              <a:t>What AI does vs does not do:</a:t>
            </a:r>
            <a:endParaRPr lang="en-US" sz="850" dirty="0"/>
          </a:p>
        </p:txBody>
      </p:sp>
      <p:sp>
        <p:nvSpPr>
          <p:cNvPr id="36" name="Text 34"/>
          <p:cNvSpPr/>
          <p:nvPr/>
        </p:nvSpPr>
        <p:spPr>
          <a:xfrm>
            <a:off x="5010912" y="2871216"/>
            <a:ext cx="3657600" cy="164592"/>
          </a:xfrm>
          <a:prstGeom prst="rect">
            <a:avLst/>
          </a:prstGeom>
          <a:noFill/>
          <a:ln/>
        </p:spPr>
        <p:txBody>
          <a:bodyPr wrap="square" lIns="0" tIns="0" rIns="0" bIns="0" rtlCol="0" anchor="ctr"/>
          <a:lstStyle/>
          <a:p>
            <a:pPr marL="0" indent="0">
              <a:buNone/>
            </a:pPr>
            <a:r>
              <a:rPr lang="en-US" sz="780" dirty="0">
                <a:solidFill>
                  <a:srgbClr val="1A4731"/>
                </a:solidFill>
              </a:rPr>
              <a:t>✅  Answers plain-English questions</a:t>
            </a:r>
            <a:endParaRPr lang="en-US" sz="780" dirty="0"/>
          </a:p>
        </p:txBody>
      </p:sp>
      <p:sp>
        <p:nvSpPr>
          <p:cNvPr id="37" name="Text 35"/>
          <p:cNvSpPr/>
          <p:nvPr/>
        </p:nvSpPr>
        <p:spPr>
          <a:xfrm>
            <a:off x="5010912" y="3035808"/>
            <a:ext cx="3657600" cy="164592"/>
          </a:xfrm>
          <a:prstGeom prst="rect">
            <a:avLst/>
          </a:prstGeom>
          <a:noFill/>
          <a:ln/>
        </p:spPr>
        <p:txBody>
          <a:bodyPr wrap="square" lIns="0" tIns="0" rIns="0" bIns="0" rtlCol="0" anchor="ctr"/>
          <a:lstStyle/>
          <a:p>
            <a:pPr marL="0" indent="0">
              <a:buNone/>
            </a:pPr>
            <a:r>
              <a:rPr lang="en-US" sz="780" dirty="0">
                <a:solidFill>
                  <a:srgbClr val="1A4731"/>
                </a:solidFill>
              </a:rPr>
              <a:t>✅  Routes between tools dynamically</a:t>
            </a:r>
            <a:endParaRPr lang="en-US" sz="780" dirty="0"/>
          </a:p>
        </p:txBody>
      </p:sp>
      <p:sp>
        <p:nvSpPr>
          <p:cNvPr id="38" name="Text 36"/>
          <p:cNvSpPr/>
          <p:nvPr/>
        </p:nvSpPr>
        <p:spPr>
          <a:xfrm>
            <a:off x="5010912" y="3200400"/>
            <a:ext cx="3657600" cy="164592"/>
          </a:xfrm>
          <a:prstGeom prst="rect">
            <a:avLst/>
          </a:prstGeom>
          <a:noFill/>
          <a:ln/>
        </p:spPr>
        <p:txBody>
          <a:bodyPr wrap="square" lIns="0" tIns="0" rIns="0" bIns="0" rtlCol="0" anchor="ctr"/>
          <a:lstStyle/>
          <a:p>
            <a:pPr marL="0" indent="0">
              <a:buNone/>
            </a:pPr>
            <a:r>
              <a:rPr lang="en-US" sz="780" dirty="0">
                <a:solidFill>
                  <a:srgbClr val="1A4731"/>
                </a:solidFill>
              </a:rPr>
              <a:t>✅  Synthesizes insights for any team</a:t>
            </a:r>
            <a:endParaRPr lang="en-US" sz="780" dirty="0"/>
          </a:p>
        </p:txBody>
      </p:sp>
      <p:sp>
        <p:nvSpPr>
          <p:cNvPr id="39" name="Text 37"/>
          <p:cNvSpPr/>
          <p:nvPr/>
        </p:nvSpPr>
        <p:spPr>
          <a:xfrm>
            <a:off x="5010912" y="3364992"/>
            <a:ext cx="3657600" cy="164592"/>
          </a:xfrm>
          <a:prstGeom prst="rect">
            <a:avLst/>
          </a:prstGeom>
          <a:noFill/>
          <a:ln/>
        </p:spPr>
        <p:txBody>
          <a:bodyPr wrap="square" lIns="0" tIns="0" rIns="0" bIns="0" rtlCol="0" anchor="ctr"/>
          <a:lstStyle/>
          <a:p>
            <a:pPr marL="0" indent="0">
              <a:buNone/>
            </a:pPr>
            <a:r>
              <a:rPr lang="en-US" sz="780" dirty="0">
                <a:solidFill>
                  <a:srgbClr val="7C2D12"/>
                </a:solidFill>
              </a:rPr>
              <a:t>❌  Replace domain expertise</a:t>
            </a:r>
            <a:endParaRPr lang="en-US" sz="780" dirty="0"/>
          </a:p>
        </p:txBody>
      </p:sp>
      <p:sp>
        <p:nvSpPr>
          <p:cNvPr id="40" name="Text 38"/>
          <p:cNvSpPr/>
          <p:nvPr/>
        </p:nvSpPr>
        <p:spPr>
          <a:xfrm>
            <a:off x="5010912" y="3529584"/>
            <a:ext cx="3657600" cy="164592"/>
          </a:xfrm>
          <a:prstGeom prst="rect">
            <a:avLst/>
          </a:prstGeom>
          <a:noFill/>
          <a:ln/>
        </p:spPr>
        <p:txBody>
          <a:bodyPr wrap="square" lIns="0" tIns="0" rIns="0" bIns="0" rtlCol="0" anchor="ctr"/>
          <a:lstStyle/>
          <a:p>
            <a:pPr marL="0" indent="0">
              <a:buNone/>
            </a:pPr>
            <a:r>
              <a:rPr lang="en-US" sz="780" dirty="0">
                <a:solidFill>
                  <a:srgbClr val="7C2D12"/>
                </a:solidFill>
              </a:rPr>
              <a:t>❌  Validate or build the model</a:t>
            </a:r>
            <a:endParaRPr lang="en-US" sz="780" dirty="0"/>
          </a:p>
        </p:txBody>
      </p:sp>
      <p:sp>
        <p:nvSpPr>
          <p:cNvPr id="41" name="Shape 39"/>
          <p:cNvSpPr/>
          <p:nvPr/>
        </p:nvSpPr>
        <p:spPr>
          <a:xfrm>
            <a:off x="4892040" y="3749040"/>
            <a:ext cx="3886200" cy="932688"/>
          </a:xfrm>
          <a:prstGeom prst="roundRect">
            <a:avLst>
              <a:gd name="adj" fmla="val 7843"/>
            </a:avLst>
          </a:prstGeom>
          <a:solidFill>
            <a:srgbClr val="0D3B66"/>
          </a:solidFill>
          <a:ln w="12700">
            <a:solidFill>
              <a:srgbClr val="0D3B66"/>
            </a:solidFill>
            <a:prstDash val="solid"/>
          </a:ln>
        </p:spPr>
        <p:txBody>
          <a:bodyPr/>
          <a:lstStyle/>
          <a:p>
            <a:endParaRPr lang="en-US"/>
          </a:p>
        </p:txBody>
      </p:sp>
      <p:sp>
        <p:nvSpPr>
          <p:cNvPr id="42" name="Text 40"/>
          <p:cNvSpPr/>
          <p:nvPr/>
        </p:nvSpPr>
        <p:spPr>
          <a:xfrm>
            <a:off x="5010912" y="3803904"/>
            <a:ext cx="3657600" cy="822960"/>
          </a:xfrm>
          <a:prstGeom prst="rect">
            <a:avLst/>
          </a:prstGeom>
          <a:noFill/>
          <a:ln/>
        </p:spPr>
        <p:txBody>
          <a:bodyPr wrap="square" lIns="0" tIns="0" rIns="0" bIns="0" rtlCol="0" anchor="ctr"/>
          <a:lstStyle/>
          <a:p>
            <a:pPr marL="0" indent="0" algn="ctr">
              <a:buNone/>
            </a:pPr>
            <a:r>
              <a:rPr lang="en-US" sz="1000" b="1" dirty="0">
                <a:solidFill>
                  <a:srgbClr val="FFFFFF"/>
                </a:solidFill>
              </a:rPr>
              <a:t>The data scientist moves from</a:t>
            </a:r>
            <a:endParaRPr lang="en-US" sz="1000" dirty="0"/>
          </a:p>
          <a:p>
            <a:pPr marL="0" indent="0" algn="ctr">
              <a:buNone/>
            </a:pPr>
            <a:r>
              <a:rPr lang="en-US" sz="1000" b="1" dirty="0">
                <a:solidFill>
                  <a:srgbClr val="FFFFFF"/>
                </a:solidFill>
              </a:rPr>
              <a:t>being a human API</a:t>
            </a:r>
            <a:endParaRPr lang="en-US" sz="1000" dirty="0"/>
          </a:p>
          <a:p>
            <a:pPr marL="0" indent="0" algn="ctr">
              <a:buNone/>
            </a:pPr>
            <a:r>
              <a:rPr lang="en-US" sz="1000" b="1" dirty="0">
                <a:solidFill>
                  <a:srgbClr val="FFFFFF"/>
                </a:solidFill>
              </a:rPr>
              <a:t>to being a model builder.</a:t>
            </a:r>
            <a:endParaRPr lang="en-US" sz="10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sp>
        <p:nvSpPr>
          <p:cNvPr id="2" name="Shape 0"/>
          <p:cNvSpPr/>
          <p:nvPr/>
        </p:nvSpPr>
        <p:spPr>
          <a:xfrm>
            <a:off x="0" y="0"/>
            <a:ext cx="9144000" cy="685800"/>
          </a:xfrm>
          <a:prstGeom prst="rect">
            <a:avLst/>
          </a:prstGeom>
          <a:solidFill>
            <a:srgbClr val="36454F"/>
          </a:solidFill>
          <a:ln w="12700">
            <a:solidFill>
              <a:srgbClr val="36454F"/>
            </a:solidFill>
            <a:prstDash val="solid"/>
          </a:ln>
        </p:spPr>
      </p:sp>
      <p:sp>
        <p:nvSpPr>
          <p:cNvPr id="3" name="Text 1"/>
          <p:cNvSpPr/>
          <p:nvPr/>
        </p:nvSpPr>
        <p:spPr>
          <a:xfrm>
            <a:off x="365760" y="0"/>
            <a:ext cx="8229600" cy="512064"/>
          </a:xfrm>
          <a:prstGeom prst="rect">
            <a:avLst/>
          </a:prstGeom>
          <a:noFill/>
          <a:ln/>
        </p:spPr>
        <p:txBody>
          <a:bodyPr wrap="square" lIns="0" tIns="0" rIns="0" bIns="0" rtlCol="0" anchor="ctr"/>
          <a:lstStyle/>
          <a:p>
            <a:pPr indent="0" marL="0">
              <a:buNone/>
            </a:pPr>
            <a:r>
              <a:rPr lang="en-US" sz="1800" b="1" dirty="0">
                <a:solidFill>
                  <a:srgbClr val="FFFFFF"/>
                </a:solidFill>
              </a:rPr>
              <a:t>Appendix: Current Tool Limitations and the Need for REPL</a:t>
            </a:r>
            <a:endParaRPr lang="en-US" sz="1800" dirty="0"/>
          </a:p>
        </p:txBody>
      </p:sp>
      <p:sp>
        <p:nvSpPr>
          <p:cNvPr id="4" name="Text 2"/>
          <p:cNvSpPr/>
          <p:nvPr/>
        </p:nvSpPr>
        <p:spPr>
          <a:xfrm>
            <a:off x="365760" y="493776"/>
            <a:ext cx="8229600" cy="164592"/>
          </a:xfrm>
          <a:prstGeom prst="rect">
            <a:avLst/>
          </a:prstGeom>
          <a:noFill/>
          <a:ln/>
        </p:spPr>
        <p:txBody>
          <a:bodyPr wrap="square" lIns="0" tIns="0" rIns="0" bIns="0" rtlCol="0" anchor="ctr"/>
          <a:lstStyle/>
          <a:p>
            <a:pPr indent="0" marL="0">
              <a:buNone/>
            </a:pPr>
            <a:r>
              <a:rPr lang="en-US" sz="800" dirty="0">
                <a:solidFill>
                  <a:srgbClr val="B0BEC5"/>
                </a:solidFill>
              </a:rPr>
              <a:t>Bank Churn Intelligence System  ·  Technical Detail</a:t>
            </a:r>
            <a:endParaRPr lang="en-US" sz="800" dirty="0"/>
          </a:p>
        </p:txBody>
      </p:sp>
      <p:sp>
        <p:nvSpPr>
          <p:cNvPr id="5" name="Shape 3"/>
          <p:cNvSpPr/>
          <p:nvPr/>
        </p:nvSpPr>
        <p:spPr>
          <a:xfrm>
            <a:off x="228600" y="804672"/>
            <a:ext cx="2084832" cy="2331720"/>
          </a:xfrm>
          <a:prstGeom prst="roundRect">
            <a:avLst>
              <a:gd name="adj" fmla="val 3509"/>
            </a:avLst>
          </a:prstGeom>
          <a:solidFill>
            <a:srgbClr val="F8FAFC"/>
          </a:solidFill>
          <a:ln w="10160">
            <a:solidFill>
              <a:srgbClr val="64748B"/>
            </a:solidFill>
            <a:prstDash val="solid"/>
          </a:ln>
          <a:effectLst>
            <a:outerShdw sx="100000" sy="100000" kx="0" ky="0" algn="bl" rotWithShape="0" blurRad="38100" dist="12700" dir="2700000">
              <a:srgbClr val="000000">
                <a:alpha val="7000"/>
              </a:srgbClr>
            </a:outerShdw>
          </a:effectLst>
        </p:spPr>
      </p:sp>
      <p:sp>
        <p:nvSpPr>
          <p:cNvPr id="6" name="Text 4"/>
          <p:cNvSpPr/>
          <p:nvPr/>
        </p:nvSpPr>
        <p:spPr>
          <a:xfrm>
            <a:off x="301752" y="850392"/>
            <a:ext cx="1938528" cy="256032"/>
          </a:xfrm>
          <a:prstGeom prst="rect">
            <a:avLst/>
          </a:prstGeom>
          <a:noFill/>
          <a:ln/>
        </p:spPr>
        <p:txBody>
          <a:bodyPr wrap="square" lIns="0" tIns="0" rIns="0" bIns="0" rtlCol="0" anchor="ctr"/>
          <a:lstStyle/>
          <a:p>
            <a:pPr algn="ctr" indent="0" marL="0">
              <a:buNone/>
            </a:pPr>
            <a:r>
              <a:rPr lang="en-US" sz="750" b="1" dirty="0">
                <a:solidFill>
                  <a:srgbClr val="1E293B"/>
                </a:solidFill>
              </a:rPr>
              <a:t>get_portfolio_summary()</a:t>
            </a:r>
            <a:endParaRPr lang="en-US" sz="750" dirty="0"/>
          </a:p>
        </p:txBody>
      </p:sp>
      <p:sp>
        <p:nvSpPr>
          <p:cNvPr id="7" name="Text 5"/>
          <p:cNvSpPr/>
          <p:nvPr/>
        </p:nvSpPr>
        <p:spPr>
          <a:xfrm>
            <a:off x="320040" y="1152144"/>
            <a:ext cx="1901952" cy="164592"/>
          </a:xfrm>
          <a:prstGeom prst="rect">
            <a:avLst/>
          </a:prstGeom>
          <a:noFill/>
          <a:ln/>
        </p:spPr>
        <p:txBody>
          <a:bodyPr wrap="square" lIns="0" tIns="0" rIns="0" bIns="0" rtlCol="0" anchor="ctr"/>
          <a:lstStyle/>
          <a:p>
            <a:pPr indent="0" marL="0">
              <a:buNone/>
            </a:pPr>
            <a:r>
              <a:rPr lang="en-US" sz="700" b="1" dirty="0">
                <a:solidFill>
                  <a:srgbClr val="27AE60"/>
                </a:solidFill>
              </a:rPr>
              <a:t>✅ Can answer:</a:t>
            </a:r>
            <a:endParaRPr lang="en-US" sz="700" dirty="0"/>
          </a:p>
        </p:txBody>
      </p:sp>
      <p:sp>
        <p:nvSpPr>
          <p:cNvPr id="8" name="Text 6"/>
          <p:cNvSpPr/>
          <p:nvPr/>
        </p:nvSpPr>
        <p:spPr>
          <a:xfrm>
            <a:off x="320040" y="1316736"/>
            <a:ext cx="1901952" cy="155448"/>
          </a:xfrm>
          <a:prstGeom prst="rect">
            <a:avLst/>
          </a:prstGeom>
          <a:noFill/>
          <a:ln/>
        </p:spPr>
        <p:txBody>
          <a:bodyPr wrap="square" lIns="0" tIns="0" rIns="0" bIns="0" rtlCol="0" anchor="ctr"/>
          <a:lstStyle/>
          <a:p>
            <a:pPr indent="0" marL="0">
              <a:buNone/>
            </a:pPr>
            <a:r>
              <a:rPr lang="en-US" sz="680" dirty="0">
                <a:solidFill>
                  <a:srgbClr val="374151"/>
                </a:solidFill>
              </a:rPr>
              <a:t>· Overall churn rate</a:t>
            </a:r>
            <a:endParaRPr lang="en-US" sz="680" dirty="0"/>
          </a:p>
        </p:txBody>
      </p:sp>
      <p:sp>
        <p:nvSpPr>
          <p:cNvPr id="9" name="Text 7"/>
          <p:cNvSpPr/>
          <p:nvPr/>
        </p:nvSpPr>
        <p:spPr>
          <a:xfrm>
            <a:off x="320040" y="1472184"/>
            <a:ext cx="1901952" cy="155448"/>
          </a:xfrm>
          <a:prstGeom prst="rect">
            <a:avLst/>
          </a:prstGeom>
          <a:noFill/>
          <a:ln/>
        </p:spPr>
        <p:txBody>
          <a:bodyPr wrap="square" lIns="0" tIns="0" rIns="0" bIns="0" rtlCol="0" anchor="ctr"/>
          <a:lstStyle/>
          <a:p>
            <a:pPr indent="0" marL="0">
              <a:buNone/>
            </a:pPr>
            <a:r>
              <a:rPr lang="en-US" sz="680" dirty="0">
                <a:solidFill>
                  <a:srgbClr val="374151"/>
                </a:solidFill>
              </a:rPr>
              <a:t>· Risk distribution</a:t>
            </a:r>
            <a:endParaRPr lang="en-US" sz="680" dirty="0"/>
          </a:p>
        </p:txBody>
      </p:sp>
      <p:sp>
        <p:nvSpPr>
          <p:cNvPr id="10" name="Text 8"/>
          <p:cNvSpPr/>
          <p:nvPr/>
        </p:nvSpPr>
        <p:spPr>
          <a:xfrm>
            <a:off x="320040" y="1627632"/>
            <a:ext cx="1901952" cy="155448"/>
          </a:xfrm>
          <a:prstGeom prst="rect">
            <a:avLst/>
          </a:prstGeom>
          <a:noFill/>
          <a:ln/>
        </p:spPr>
        <p:txBody>
          <a:bodyPr wrap="square" lIns="0" tIns="0" rIns="0" bIns="0" rtlCol="0" anchor="ctr"/>
          <a:lstStyle/>
          <a:p>
            <a:pPr indent="0" marL="0">
              <a:buNone/>
            </a:pPr>
            <a:r>
              <a:rPr lang="en-US" sz="680" dirty="0">
                <a:solidFill>
                  <a:srgbClr val="374151"/>
                </a:solidFill>
              </a:rPr>
              <a:t>· Top 3 drivers</a:t>
            </a:r>
            <a:endParaRPr lang="en-US" sz="680" dirty="0"/>
          </a:p>
        </p:txBody>
      </p:sp>
      <p:sp>
        <p:nvSpPr>
          <p:cNvPr id="11" name="Text 9"/>
          <p:cNvSpPr/>
          <p:nvPr/>
        </p:nvSpPr>
        <p:spPr>
          <a:xfrm>
            <a:off x="320040" y="1783080"/>
            <a:ext cx="1901952" cy="155448"/>
          </a:xfrm>
          <a:prstGeom prst="rect">
            <a:avLst/>
          </a:prstGeom>
          <a:noFill/>
          <a:ln/>
        </p:spPr>
        <p:txBody>
          <a:bodyPr wrap="square" lIns="0" tIns="0" rIns="0" bIns="0" rtlCol="0" anchor="ctr"/>
          <a:lstStyle/>
          <a:p>
            <a:pPr indent="0" marL="0">
              <a:buNone/>
            </a:pPr>
            <a:r>
              <a:rPr lang="en-US" sz="680" dirty="0">
                <a:solidFill>
                  <a:srgbClr val="374151"/>
                </a:solidFill>
              </a:rPr>
              <a:t>· Model performance</a:t>
            </a:r>
            <a:endParaRPr lang="en-US" sz="680" dirty="0"/>
          </a:p>
        </p:txBody>
      </p:sp>
      <p:sp>
        <p:nvSpPr>
          <p:cNvPr id="12" name="Text 10"/>
          <p:cNvSpPr/>
          <p:nvPr/>
        </p:nvSpPr>
        <p:spPr>
          <a:xfrm>
            <a:off x="320040" y="1956816"/>
            <a:ext cx="1901952" cy="164592"/>
          </a:xfrm>
          <a:prstGeom prst="rect">
            <a:avLst/>
          </a:prstGeom>
          <a:noFill/>
          <a:ln/>
        </p:spPr>
        <p:txBody>
          <a:bodyPr wrap="square" lIns="0" tIns="0" rIns="0" bIns="0" rtlCol="0" anchor="ctr"/>
          <a:lstStyle/>
          <a:p>
            <a:pPr indent="0" marL="0">
              <a:buNone/>
            </a:pPr>
            <a:r>
              <a:rPr lang="en-US" sz="700" b="1" dirty="0">
                <a:solidFill>
                  <a:srgbClr val="E74C3C"/>
                </a:solidFill>
              </a:rPr>
              <a:t>❌ Cannot answer:</a:t>
            </a:r>
            <a:endParaRPr lang="en-US" sz="700" dirty="0"/>
          </a:p>
        </p:txBody>
      </p:sp>
      <p:sp>
        <p:nvSpPr>
          <p:cNvPr id="13" name="Text 11"/>
          <p:cNvSpPr/>
          <p:nvPr/>
        </p:nvSpPr>
        <p:spPr>
          <a:xfrm>
            <a:off x="320040" y="2121408"/>
            <a:ext cx="1901952" cy="155448"/>
          </a:xfrm>
          <a:prstGeom prst="rect">
            <a:avLst/>
          </a:prstGeom>
          <a:noFill/>
          <a:ln/>
        </p:spPr>
        <p:txBody>
          <a:bodyPr wrap="square" lIns="0" tIns="0" rIns="0" bIns="0" rtlCol="0" anchor="ctr"/>
          <a:lstStyle/>
          <a:p>
            <a:pPr indent="0" marL="0">
              <a:buNone/>
            </a:pPr>
            <a:r>
              <a:rPr lang="en-US" sz="680" dirty="0">
                <a:solidFill>
                  <a:srgbClr val="374151"/>
                </a:solidFill>
              </a:rPr>
              <a:t>· Any custom breakdown</a:t>
            </a:r>
            <a:endParaRPr lang="en-US" sz="680" dirty="0"/>
          </a:p>
        </p:txBody>
      </p:sp>
      <p:sp>
        <p:nvSpPr>
          <p:cNvPr id="14" name="Text 12"/>
          <p:cNvSpPr/>
          <p:nvPr/>
        </p:nvSpPr>
        <p:spPr>
          <a:xfrm>
            <a:off x="320040" y="2276856"/>
            <a:ext cx="1901952" cy="155448"/>
          </a:xfrm>
          <a:prstGeom prst="rect">
            <a:avLst/>
          </a:prstGeom>
          <a:noFill/>
          <a:ln/>
        </p:spPr>
        <p:txBody>
          <a:bodyPr wrap="square" lIns="0" tIns="0" rIns="0" bIns="0" rtlCol="0" anchor="ctr"/>
          <a:lstStyle/>
          <a:p>
            <a:pPr indent="0" marL="0">
              <a:buNone/>
            </a:pPr>
            <a:r>
              <a:rPr lang="en-US" sz="680" dirty="0">
                <a:solidFill>
                  <a:srgbClr val="374151"/>
                </a:solidFill>
              </a:rPr>
              <a:t>· No parameters accepted</a:t>
            </a:r>
            <a:endParaRPr lang="en-US" sz="680" dirty="0"/>
          </a:p>
        </p:txBody>
      </p:sp>
      <p:sp>
        <p:nvSpPr>
          <p:cNvPr id="15" name="Shape 13"/>
          <p:cNvSpPr/>
          <p:nvPr/>
        </p:nvSpPr>
        <p:spPr>
          <a:xfrm>
            <a:off x="2441448" y="804672"/>
            <a:ext cx="2084832" cy="2331720"/>
          </a:xfrm>
          <a:prstGeom prst="roundRect">
            <a:avLst>
              <a:gd name="adj" fmla="val 3509"/>
            </a:avLst>
          </a:prstGeom>
          <a:solidFill>
            <a:srgbClr val="F8FAFC"/>
          </a:solidFill>
          <a:ln w="10160">
            <a:solidFill>
              <a:srgbClr val="64748B"/>
            </a:solidFill>
            <a:prstDash val="solid"/>
          </a:ln>
          <a:effectLst>
            <a:outerShdw sx="100000" sy="100000" kx="0" ky="0" algn="bl" rotWithShape="0" blurRad="38100" dist="12700" dir="2700000">
              <a:srgbClr val="000000">
                <a:alpha val="7000"/>
              </a:srgbClr>
            </a:outerShdw>
          </a:effectLst>
        </p:spPr>
      </p:sp>
      <p:sp>
        <p:nvSpPr>
          <p:cNvPr id="16" name="Text 14"/>
          <p:cNvSpPr/>
          <p:nvPr/>
        </p:nvSpPr>
        <p:spPr>
          <a:xfrm>
            <a:off x="2514600" y="850392"/>
            <a:ext cx="1938528" cy="256032"/>
          </a:xfrm>
          <a:prstGeom prst="rect">
            <a:avLst/>
          </a:prstGeom>
          <a:noFill/>
          <a:ln/>
        </p:spPr>
        <p:txBody>
          <a:bodyPr wrap="square" lIns="0" tIns="0" rIns="0" bIns="0" rtlCol="0" anchor="ctr"/>
          <a:lstStyle/>
          <a:p>
            <a:pPr algn="ctr" indent="0" marL="0">
              <a:buNone/>
            </a:pPr>
            <a:r>
              <a:rPr lang="en-US" sz="750" b="1" dirty="0">
                <a:solidFill>
                  <a:srgbClr val="1E293B"/>
                </a:solidFill>
              </a:rPr>
              <a:t>get_churn_drivers(segment)</a:t>
            </a:r>
            <a:endParaRPr lang="en-US" sz="750" dirty="0"/>
          </a:p>
        </p:txBody>
      </p:sp>
      <p:sp>
        <p:nvSpPr>
          <p:cNvPr id="17" name="Text 15"/>
          <p:cNvSpPr/>
          <p:nvPr/>
        </p:nvSpPr>
        <p:spPr>
          <a:xfrm>
            <a:off x="2532888" y="1152144"/>
            <a:ext cx="1901952" cy="164592"/>
          </a:xfrm>
          <a:prstGeom prst="rect">
            <a:avLst/>
          </a:prstGeom>
          <a:noFill/>
          <a:ln/>
        </p:spPr>
        <p:txBody>
          <a:bodyPr wrap="square" lIns="0" tIns="0" rIns="0" bIns="0" rtlCol="0" anchor="ctr"/>
          <a:lstStyle/>
          <a:p>
            <a:pPr indent="0" marL="0">
              <a:buNone/>
            </a:pPr>
            <a:r>
              <a:rPr lang="en-US" sz="700" b="1" dirty="0">
                <a:solidFill>
                  <a:srgbClr val="27AE60"/>
                </a:solidFill>
              </a:rPr>
              <a:t>✅ Can answer:</a:t>
            </a:r>
            <a:endParaRPr lang="en-US" sz="700" dirty="0"/>
          </a:p>
        </p:txBody>
      </p:sp>
      <p:sp>
        <p:nvSpPr>
          <p:cNvPr id="18" name="Text 16"/>
          <p:cNvSpPr/>
          <p:nvPr/>
        </p:nvSpPr>
        <p:spPr>
          <a:xfrm>
            <a:off x="2532888" y="1316736"/>
            <a:ext cx="1901952" cy="155448"/>
          </a:xfrm>
          <a:prstGeom prst="rect">
            <a:avLst/>
          </a:prstGeom>
          <a:noFill/>
          <a:ln/>
        </p:spPr>
        <p:txBody>
          <a:bodyPr wrap="square" lIns="0" tIns="0" rIns="0" bIns="0" rtlCol="0" anchor="ctr"/>
          <a:lstStyle/>
          <a:p>
            <a:pPr indent="0" marL="0">
              <a:buNone/>
            </a:pPr>
            <a:r>
              <a:rPr lang="en-US" sz="680" dirty="0">
                <a:solidFill>
                  <a:srgbClr val="374151"/>
                </a:solidFill>
              </a:rPr>
              <a:t>· Overall feature importance</a:t>
            </a:r>
            <a:endParaRPr lang="en-US" sz="680" dirty="0"/>
          </a:p>
        </p:txBody>
      </p:sp>
      <p:sp>
        <p:nvSpPr>
          <p:cNvPr id="19" name="Text 17"/>
          <p:cNvSpPr/>
          <p:nvPr/>
        </p:nvSpPr>
        <p:spPr>
          <a:xfrm>
            <a:off x="2532888" y="1472184"/>
            <a:ext cx="1901952" cy="155448"/>
          </a:xfrm>
          <a:prstGeom prst="rect">
            <a:avLst/>
          </a:prstGeom>
          <a:noFill/>
          <a:ln/>
        </p:spPr>
        <p:txBody>
          <a:bodyPr wrap="square" lIns="0" tIns="0" rIns="0" bIns="0" rtlCol="0" anchor="ctr"/>
          <a:lstStyle/>
          <a:p>
            <a:pPr indent="0" marL="0">
              <a:buNone/>
            </a:pPr>
            <a:r>
              <a:rPr lang="en-US" sz="680" dirty="0">
                <a:solidFill>
                  <a:srgbClr val="374151"/>
                </a:solidFill>
              </a:rPr>
              <a:t>· Churn by geography</a:t>
            </a:r>
            <a:endParaRPr lang="en-US" sz="680" dirty="0"/>
          </a:p>
        </p:txBody>
      </p:sp>
      <p:sp>
        <p:nvSpPr>
          <p:cNvPr id="20" name="Text 18"/>
          <p:cNvSpPr/>
          <p:nvPr/>
        </p:nvSpPr>
        <p:spPr>
          <a:xfrm>
            <a:off x="2532888" y="1627632"/>
            <a:ext cx="1901952" cy="155448"/>
          </a:xfrm>
          <a:prstGeom prst="rect">
            <a:avLst/>
          </a:prstGeom>
          <a:noFill/>
          <a:ln/>
        </p:spPr>
        <p:txBody>
          <a:bodyPr wrap="square" lIns="0" tIns="0" rIns="0" bIns="0" rtlCol="0" anchor="ctr"/>
          <a:lstStyle/>
          <a:p>
            <a:pPr indent="0" marL="0">
              <a:buNone/>
            </a:pPr>
            <a:r>
              <a:rPr lang="en-US" sz="680" dirty="0">
                <a:solidFill>
                  <a:srgbClr val="374151"/>
                </a:solidFill>
              </a:rPr>
              <a:t>· Churn by activity</a:t>
            </a:r>
            <a:endParaRPr lang="en-US" sz="680" dirty="0"/>
          </a:p>
        </p:txBody>
      </p:sp>
      <p:sp>
        <p:nvSpPr>
          <p:cNvPr id="21" name="Text 19"/>
          <p:cNvSpPr/>
          <p:nvPr/>
        </p:nvSpPr>
        <p:spPr>
          <a:xfrm>
            <a:off x="2532888" y="1783080"/>
            <a:ext cx="1901952" cy="155448"/>
          </a:xfrm>
          <a:prstGeom prst="rect">
            <a:avLst/>
          </a:prstGeom>
          <a:noFill/>
          <a:ln/>
        </p:spPr>
        <p:txBody>
          <a:bodyPr wrap="square" lIns="0" tIns="0" rIns="0" bIns="0" rtlCol="0" anchor="ctr"/>
          <a:lstStyle/>
          <a:p>
            <a:pPr indent="0" marL="0">
              <a:buNone/>
            </a:pPr>
            <a:r>
              <a:rPr lang="en-US" sz="680" dirty="0">
                <a:solidFill>
                  <a:srgbClr val="374151"/>
                </a:solidFill>
              </a:rPr>
              <a:t>· Churn by products</a:t>
            </a:r>
            <a:endParaRPr lang="en-US" sz="680" dirty="0"/>
          </a:p>
        </p:txBody>
      </p:sp>
      <p:sp>
        <p:nvSpPr>
          <p:cNvPr id="22" name="Text 20"/>
          <p:cNvSpPr/>
          <p:nvPr/>
        </p:nvSpPr>
        <p:spPr>
          <a:xfrm>
            <a:off x="2532888" y="1956816"/>
            <a:ext cx="1901952" cy="164592"/>
          </a:xfrm>
          <a:prstGeom prst="rect">
            <a:avLst/>
          </a:prstGeom>
          <a:noFill/>
          <a:ln/>
        </p:spPr>
        <p:txBody>
          <a:bodyPr wrap="square" lIns="0" tIns="0" rIns="0" bIns="0" rtlCol="0" anchor="ctr"/>
          <a:lstStyle/>
          <a:p>
            <a:pPr indent="0" marL="0">
              <a:buNone/>
            </a:pPr>
            <a:r>
              <a:rPr lang="en-US" sz="700" b="1" dirty="0">
                <a:solidFill>
                  <a:srgbClr val="E74C3C"/>
                </a:solidFill>
              </a:rPr>
              <a:t>❌ Cannot answer:</a:t>
            </a:r>
            <a:endParaRPr lang="en-US" sz="700" dirty="0"/>
          </a:p>
        </p:txBody>
      </p:sp>
      <p:sp>
        <p:nvSpPr>
          <p:cNvPr id="23" name="Text 21"/>
          <p:cNvSpPr/>
          <p:nvPr/>
        </p:nvSpPr>
        <p:spPr>
          <a:xfrm>
            <a:off x="2532888" y="2121408"/>
            <a:ext cx="1901952" cy="155448"/>
          </a:xfrm>
          <a:prstGeom prst="rect">
            <a:avLst/>
          </a:prstGeom>
          <a:noFill/>
          <a:ln/>
        </p:spPr>
        <p:txBody>
          <a:bodyPr wrap="square" lIns="0" tIns="0" rIns="0" bIns="0" rtlCol="0" anchor="ctr"/>
          <a:lstStyle/>
          <a:p>
            <a:pPr indent="0" marL="0">
              <a:buNone/>
            </a:pPr>
            <a:r>
              <a:rPr lang="en-US" sz="680" dirty="0">
                <a:solidFill>
                  <a:srgbClr val="374151"/>
                </a:solidFill>
              </a:rPr>
              <a:t>· Segment-specific importance</a:t>
            </a:r>
            <a:endParaRPr lang="en-US" sz="680" dirty="0"/>
          </a:p>
        </p:txBody>
      </p:sp>
      <p:sp>
        <p:nvSpPr>
          <p:cNvPr id="24" name="Text 22"/>
          <p:cNvSpPr/>
          <p:nvPr/>
        </p:nvSpPr>
        <p:spPr>
          <a:xfrm>
            <a:off x="2532888" y="2276856"/>
            <a:ext cx="1901952" cy="155448"/>
          </a:xfrm>
          <a:prstGeom prst="rect">
            <a:avLst/>
          </a:prstGeom>
          <a:noFill/>
          <a:ln/>
        </p:spPr>
        <p:txBody>
          <a:bodyPr wrap="square" lIns="0" tIns="0" rIns="0" bIns="0" rtlCol="0" anchor="ctr"/>
          <a:lstStyle/>
          <a:p>
            <a:pPr indent="0" marL="0">
              <a:buNone/>
            </a:pPr>
            <a:r>
              <a:rPr lang="en-US" sz="680" dirty="0">
                <a:solidFill>
                  <a:srgbClr val="374151"/>
                </a:solidFill>
              </a:rPr>
              <a:t>· Custom segments (age, salary)</a:t>
            </a:r>
            <a:endParaRPr lang="en-US" sz="680" dirty="0"/>
          </a:p>
        </p:txBody>
      </p:sp>
      <p:sp>
        <p:nvSpPr>
          <p:cNvPr id="25" name="Shape 23"/>
          <p:cNvSpPr/>
          <p:nvPr/>
        </p:nvSpPr>
        <p:spPr>
          <a:xfrm>
            <a:off x="4654296" y="804672"/>
            <a:ext cx="2084832" cy="2331720"/>
          </a:xfrm>
          <a:prstGeom prst="roundRect">
            <a:avLst>
              <a:gd name="adj" fmla="val 3509"/>
            </a:avLst>
          </a:prstGeom>
          <a:solidFill>
            <a:srgbClr val="F8FAFC"/>
          </a:solidFill>
          <a:ln w="10160">
            <a:solidFill>
              <a:srgbClr val="64748B"/>
            </a:solidFill>
            <a:prstDash val="solid"/>
          </a:ln>
          <a:effectLst>
            <a:outerShdw sx="100000" sy="100000" kx="0" ky="0" algn="bl" rotWithShape="0" blurRad="38100" dist="12700" dir="2700000">
              <a:srgbClr val="000000">
                <a:alpha val="7000"/>
              </a:srgbClr>
            </a:outerShdw>
          </a:effectLst>
        </p:spPr>
      </p:sp>
      <p:sp>
        <p:nvSpPr>
          <p:cNvPr id="26" name="Text 24"/>
          <p:cNvSpPr/>
          <p:nvPr/>
        </p:nvSpPr>
        <p:spPr>
          <a:xfrm>
            <a:off x="4727448" y="850392"/>
            <a:ext cx="1938528" cy="256032"/>
          </a:xfrm>
          <a:prstGeom prst="rect">
            <a:avLst/>
          </a:prstGeom>
          <a:noFill/>
          <a:ln/>
        </p:spPr>
        <p:txBody>
          <a:bodyPr wrap="square" lIns="0" tIns="0" rIns="0" bIns="0" rtlCol="0" anchor="ctr"/>
          <a:lstStyle/>
          <a:p>
            <a:pPr algn="ctr" indent="0" marL="0">
              <a:buNone/>
            </a:pPr>
            <a:r>
              <a:rPr lang="en-US" sz="750" b="1" dirty="0">
                <a:solidFill>
                  <a:srgbClr val="1E293B"/>
                </a:solidFill>
              </a:rPr>
              <a:t>get_high_risk_customers(n)</a:t>
            </a:r>
            <a:endParaRPr lang="en-US" sz="750" dirty="0"/>
          </a:p>
        </p:txBody>
      </p:sp>
      <p:sp>
        <p:nvSpPr>
          <p:cNvPr id="27" name="Text 25"/>
          <p:cNvSpPr/>
          <p:nvPr/>
        </p:nvSpPr>
        <p:spPr>
          <a:xfrm>
            <a:off x="4745736" y="1152144"/>
            <a:ext cx="1901952" cy="164592"/>
          </a:xfrm>
          <a:prstGeom prst="rect">
            <a:avLst/>
          </a:prstGeom>
          <a:noFill/>
          <a:ln/>
        </p:spPr>
        <p:txBody>
          <a:bodyPr wrap="square" lIns="0" tIns="0" rIns="0" bIns="0" rtlCol="0" anchor="ctr"/>
          <a:lstStyle/>
          <a:p>
            <a:pPr indent="0" marL="0">
              <a:buNone/>
            </a:pPr>
            <a:r>
              <a:rPr lang="en-US" sz="700" b="1" dirty="0">
                <a:solidFill>
                  <a:srgbClr val="27AE60"/>
                </a:solidFill>
              </a:rPr>
              <a:t>✅ Can answer:</a:t>
            </a:r>
            <a:endParaRPr lang="en-US" sz="700" dirty="0"/>
          </a:p>
        </p:txBody>
      </p:sp>
      <p:sp>
        <p:nvSpPr>
          <p:cNvPr id="28" name="Text 26"/>
          <p:cNvSpPr/>
          <p:nvPr/>
        </p:nvSpPr>
        <p:spPr>
          <a:xfrm>
            <a:off x="4745736" y="1316736"/>
            <a:ext cx="1901952" cy="155448"/>
          </a:xfrm>
          <a:prstGeom prst="rect">
            <a:avLst/>
          </a:prstGeom>
          <a:noFill/>
          <a:ln/>
        </p:spPr>
        <p:txBody>
          <a:bodyPr wrap="square" lIns="0" tIns="0" rIns="0" bIns="0" rtlCol="0" anchor="ctr"/>
          <a:lstStyle/>
          <a:p>
            <a:pPr indent="0" marL="0">
              <a:buNone/>
            </a:pPr>
            <a:r>
              <a:rPr lang="en-US" sz="680" dirty="0">
                <a:solidFill>
                  <a:srgbClr val="374151"/>
                </a:solidFill>
              </a:rPr>
              <a:t>· Top N by churn probability</a:t>
            </a:r>
            <a:endParaRPr lang="en-US" sz="680" dirty="0"/>
          </a:p>
        </p:txBody>
      </p:sp>
      <p:sp>
        <p:nvSpPr>
          <p:cNvPr id="29" name="Text 27"/>
          <p:cNvSpPr/>
          <p:nvPr/>
        </p:nvSpPr>
        <p:spPr>
          <a:xfrm>
            <a:off x="4745736" y="1472184"/>
            <a:ext cx="1901952" cy="155448"/>
          </a:xfrm>
          <a:prstGeom prst="rect">
            <a:avLst/>
          </a:prstGeom>
          <a:noFill/>
          <a:ln/>
        </p:spPr>
        <p:txBody>
          <a:bodyPr wrap="square" lIns="0" tIns="0" rIns="0" bIns="0" rtlCol="0" anchor="ctr"/>
          <a:lstStyle/>
          <a:p>
            <a:pPr indent="0" marL="0">
              <a:buNone/>
            </a:pPr>
            <a:r>
              <a:rPr lang="en-US" sz="680" dirty="0">
                <a:solidFill>
                  <a:srgbClr val="374151"/>
                </a:solidFill>
              </a:rPr>
              <a:t>· Adjustable threshold</a:t>
            </a:r>
            <a:endParaRPr lang="en-US" sz="680" dirty="0"/>
          </a:p>
        </p:txBody>
      </p:sp>
      <p:sp>
        <p:nvSpPr>
          <p:cNvPr id="30" name="Text 28"/>
          <p:cNvSpPr/>
          <p:nvPr/>
        </p:nvSpPr>
        <p:spPr>
          <a:xfrm>
            <a:off x="4745736" y="1627632"/>
            <a:ext cx="1901952" cy="155448"/>
          </a:xfrm>
          <a:prstGeom prst="rect">
            <a:avLst/>
          </a:prstGeom>
          <a:noFill/>
          <a:ln/>
        </p:spPr>
        <p:txBody>
          <a:bodyPr wrap="square" lIns="0" tIns="0" rIns="0" bIns="0" rtlCol="0" anchor="ctr"/>
          <a:lstStyle/>
          <a:p>
            <a:pPr indent="0" marL="0">
              <a:buNone/>
            </a:pPr>
            <a:r>
              <a:rPr lang="en-US" sz="680" dirty="0">
                <a:solidFill>
                  <a:srgbClr val="374151"/>
                </a:solidFill>
              </a:rPr>
              <a:t>· Customer attributes</a:t>
            </a:r>
            <a:endParaRPr lang="en-US" sz="680" dirty="0"/>
          </a:p>
        </p:txBody>
      </p:sp>
      <p:sp>
        <p:nvSpPr>
          <p:cNvPr id="31" name="Text 29"/>
          <p:cNvSpPr/>
          <p:nvPr/>
        </p:nvSpPr>
        <p:spPr>
          <a:xfrm>
            <a:off x="4745736" y="1956816"/>
            <a:ext cx="1901952" cy="164592"/>
          </a:xfrm>
          <a:prstGeom prst="rect">
            <a:avLst/>
          </a:prstGeom>
          <a:noFill/>
          <a:ln/>
        </p:spPr>
        <p:txBody>
          <a:bodyPr wrap="square" lIns="0" tIns="0" rIns="0" bIns="0" rtlCol="0" anchor="ctr"/>
          <a:lstStyle/>
          <a:p>
            <a:pPr indent="0" marL="0">
              <a:buNone/>
            </a:pPr>
            <a:r>
              <a:rPr lang="en-US" sz="700" b="1" dirty="0">
                <a:solidFill>
                  <a:srgbClr val="E74C3C"/>
                </a:solidFill>
              </a:rPr>
              <a:t>❌ Cannot answer:</a:t>
            </a:r>
            <a:endParaRPr lang="en-US" sz="700" dirty="0"/>
          </a:p>
        </p:txBody>
      </p:sp>
      <p:sp>
        <p:nvSpPr>
          <p:cNvPr id="32" name="Text 30"/>
          <p:cNvSpPr/>
          <p:nvPr/>
        </p:nvSpPr>
        <p:spPr>
          <a:xfrm>
            <a:off x="4745736" y="2121408"/>
            <a:ext cx="1901952" cy="155448"/>
          </a:xfrm>
          <a:prstGeom prst="rect">
            <a:avLst/>
          </a:prstGeom>
          <a:noFill/>
          <a:ln/>
        </p:spPr>
        <p:txBody>
          <a:bodyPr wrap="square" lIns="0" tIns="0" rIns="0" bIns="0" rtlCol="0" anchor="ctr"/>
          <a:lstStyle/>
          <a:p>
            <a:pPr indent="0" marL="0">
              <a:buNone/>
            </a:pPr>
            <a:r>
              <a:rPr lang="en-US" sz="680" dirty="0">
                <a:solidFill>
                  <a:srgbClr val="374151"/>
                </a:solidFill>
              </a:rPr>
              <a:t>· Filter by geography</a:t>
            </a:r>
            <a:endParaRPr lang="en-US" sz="680" dirty="0"/>
          </a:p>
        </p:txBody>
      </p:sp>
      <p:sp>
        <p:nvSpPr>
          <p:cNvPr id="33" name="Text 31"/>
          <p:cNvSpPr/>
          <p:nvPr/>
        </p:nvSpPr>
        <p:spPr>
          <a:xfrm>
            <a:off x="4745736" y="2276856"/>
            <a:ext cx="1901952" cy="155448"/>
          </a:xfrm>
          <a:prstGeom prst="rect">
            <a:avLst/>
          </a:prstGeom>
          <a:noFill/>
          <a:ln/>
        </p:spPr>
        <p:txBody>
          <a:bodyPr wrap="square" lIns="0" tIns="0" rIns="0" bIns="0" rtlCol="0" anchor="ctr"/>
          <a:lstStyle/>
          <a:p>
            <a:pPr indent="0" marL="0">
              <a:buNone/>
            </a:pPr>
            <a:r>
              <a:rPr lang="en-US" sz="680" dirty="0">
                <a:solidFill>
                  <a:srgbClr val="374151"/>
                </a:solidFill>
              </a:rPr>
              <a:t>· Filter by balance or products</a:t>
            </a:r>
            <a:endParaRPr lang="en-US" sz="680" dirty="0"/>
          </a:p>
        </p:txBody>
      </p:sp>
      <p:sp>
        <p:nvSpPr>
          <p:cNvPr id="34" name="Text 32"/>
          <p:cNvSpPr/>
          <p:nvPr/>
        </p:nvSpPr>
        <p:spPr>
          <a:xfrm>
            <a:off x="4745736" y="2432304"/>
            <a:ext cx="1901952" cy="155448"/>
          </a:xfrm>
          <a:prstGeom prst="rect">
            <a:avLst/>
          </a:prstGeom>
          <a:noFill/>
          <a:ln/>
        </p:spPr>
        <p:txBody>
          <a:bodyPr wrap="square" lIns="0" tIns="0" rIns="0" bIns="0" rtlCol="0" anchor="ctr"/>
          <a:lstStyle/>
          <a:p>
            <a:pPr indent="0" marL="0">
              <a:buNone/>
            </a:pPr>
            <a:r>
              <a:rPr lang="en-US" sz="680" dirty="0">
                <a:solidFill>
                  <a:srgbClr val="374151"/>
                </a:solidFill>
              </a:rPr>
              <a:t>· Cross-attribute filtering</a:t>
            </a:r>
            <a:endParaRPr lang="en-US" sz="680" dirty="0"/>
          </a:p>
        </p:txBody>
      </p:sp>
      <p:sp>
        <p:nvSpPr>
          <p:cNvPr id="35" name="Shape 33"/>
          <p:cNvSpPr/>
          <p:nvPr/>
        </p:nvSpPr>
        <p:spPr>
          <a:xfrm>
            <a:off x="6867144" y="804672"/>
            <a:ext cx="2084832" cy="2331720"/>
          </a:xfrm>
          <a:prstGeom prst="roundRect">
            <a:avLst>
              <a:gd name="adj" fmla="val 3509"/>
            </a:avLst>
          </a:prstGeom>
          <a:solidFill>
            <a:srgbClr val="F8FAFC"/>
          </a:solidFill>
          <a:ln w="10160">
            <a:solidFill>
              <a:srgbClr val="64748B"/>
            </a:solidFill>
            <a:prstDash val="solid"/>
          </a:ln>
          <a:effectLst>
            <a:outerShdw sx="100000" sy="100000" kx="0" ky="0" algn="bl" rotWithShape="0" blurRad="38100" dist="12700" dir="2700000">
              <a:srgbClr val="000000">
                <a:alpha val="7000"/>
              </a:srgbClr>
            </a:outerShdw>
          </a:effectLst>
        </p:spPr>
      </p:sp>
      <p:sp>
        <p:nvSpPr>
          <p:cNvPr id="36" name="Text 34"/>
          <p:cNvSpPr/>
          <p:nvPr/>
        </p:nvSpPr>
        <p:spPr>
          <a:xfrm>
            <a:off x="6940296" y="850392"/>
            <a:ext cx="1938528" cy="256032"/>
          </a:xfrm>
          <a:prstGeom prst="rect">
            <a:avLst/>
          </a:prstGeom>
          <a:noFill/>
          <a:ln/>
        </p:spPr>
        <p:txBody>
          <a:bodyPr wrap="square" lIns="0" tIns="0" rIns="0" bIns="0" rtlCol="0" anchor="ctr"/>
          <a:lstStyle/>
          <a:p>
            <a:pPr algn="ctr" indent="0" marL="0">
              <a:buNone/>
            </a:pPr>
            <a:r>
              <a:rPr lang="en-US" sz="750" b="1" dirty="0">
                <a:solidFill>
                  <a:srgbClr val="1E293B"/>
                </a:solidFill>
              </a:rPr>
              <a:t>predict_churn(attributes)</a:t>
            </a:r>
            <a:endParaRPr lang="en-US" sz="750" dirty="0"/>
          </a:p>
        </p:txBody>
      </p:sp>
      <p:sp>
        <p:nvSpPr>
          <p:cNvPr id="37" name="Text 35"/>
          <p:cNvSpPr/>
          <p:nvPr/>
        </p:nvSpPr>
        <p:spPr>
          <a:xfrm>
            <a:off x="6958584" y="1152144"/>
            <a:ext cx="1901952" cy="164592"/>
          </a:xfrm>
          <a:prstGeom prst="rect">
            <a:avLst/>
          </a:prstGeom>
          <a:noFill/>
          <a:ln/>
        </p:spPr>
        <p:txBody>
          <a:bodyPr wrap="square" lIns="0" tIns="0" rIns="0" bIns="0" rtlCol="0" anchor="ctr"/>
          <a:lstStyle/>
          <a:p>
            <a:pPr indent="0" marL="0">
              <a:buNone/>
            </a:pPr>
            <a:r>
              <a:rPr lang="en-US" sz="700" b="1" dirty="0">
                <a:solidFill>
                  <a:srgbClr val="27AE60"/>
                </a:solidFill>
              </a:rPr>
              <a:t>✅ Can answer:</a:t>
            </a:r>
            <a:endParaRPr lang="en-US" sz="700" dirty="0"/>
          </a:p>
        </p:txBody>
      </p:sp>
      <p:sp>
        <p:nvSpPr>
          <p:cNvPr id="38" name="Text 36"/>
          <p:cNvSpPr/>
          <p:nvPr/>
        </p:nvSpPr>
        <p:spPr>
          <a:xfrm>
            <a:off x="6958584" y="1316736"/>
            <a:ext cx="1901952" cy="155448"/>
          </a:xfrm>
          <a:prstGeom prst="rect">
            <a:avLst/>
          </a:prstGeom>
          <a:noFill/>
          <a:ln/>
        </p:spPr>
        <p:txBody>
          <a:bodyPr wrap="square" lIns="0" tIns="0" rIns="0" bIns="0" rtlCol="0" anchor="ctr"/>
          <a:lstStyle/>
          <a:p>
            <a:pPr indent="0" marL="0">
              <a:buNone/>
            </a:pPr>
            <a:r>
              <a:rPr lang="en-US" sz="680" dirty="0">
                <a:solidFill>
                  <a:srgbClr val="374151"/>
                </a:solidFill>
              </a:rPr>
              <a:t>· One customer at a time</a:t>
            </a:r>
            <a:endParaRPr lang="en-US" sz="680" dirty="0"/>
          </a:p>
        </p:txBody>
      </p:sp>
      <p:sp>
        <p:nvSpPr>
          <p:cNvPr id="39" name="Text 37"/>
          <p:cNvSpPr/>
          <p:nvPr/>
        </p:nvSpPr>
        <p:spPr>
          <a:xfrm>
            <a:off x="6958584" y="1472184"/>
            <a:ext cx="1901952" cy="155448"/>
          </a:xfrm>
          <a:prstGeom prst="rect">
            <a:avLst/>
          </a:prstGeom>
          <a:noFill/>
          <a:ln/>
        </p:spPr>
        <p:txBody>
          <a:bodyPr wrap="square" lIns="0" tIns="0" rIns="0" bIns="0" rtlCol="0" anchor="ctr"/>
          <a:lstStyle/>
          <a:p>
            <a:pPr indent="0" marL="0">
              <a:buNone/>
            </a:pPr>
            <a:r>
              <a:rPr lang="en-US" sz="680" dirty="0">
                <a:solidFill>
                  <a:srgbClr val="374151"/>
                </a:solidFill>
              </a:rPr>
              <a:t>· Any attribute profile</a:t>
            </a:r>
            <a:endParaRPr lang="en-US" sz="680" dirty="0"/>
          </a:p>
        </p:txBody>
      </p:sp>
      <p:sp>
        <p:nvSpPr>
          <p:cNvPr id="40" name="Text 38"/>
          <p:cNvSpPr/>
          <p:nvPr/>
        </p:nvSpPr>
        <p:spPr>
          <a:xfrm>
            <a:off x="6958584" y="1627632"/>
            <a:ext cx="1901952" cy="155448"/>
          </a:xfrm>
          <a:prstGeom prst="rect">
            <a:avLst/>
          </a:prstGeom>
          <a:noFill/>
          <a:ln/>
        </p:spPr>
        <p:txBody>
          <a:bodyPr wrap="square" lIns="0" tIns="0" rIns="0" bIns="0" rtlCol="0" anchor="ctr"/>
          <a:lstStyle/>
          <a:p>
            <a:pPr indent="0" marL="0">
              <a:buNone/>
            </a:pPr>
            <a:r>
              <a:rPr lang="en-US" sz="680" dirty="0">
                <a:solidFill>
                  <a:srgbClr val="374151"/>
                </a:solidFill>
              </a:rPr>
              <a:t>· Risk label + action</a:t>
            </a:r>
            <a:endParaRPr lang="en-US" sz="680" dirty="0"/>
          </a:p>
        </p:txBody>
      </p:sp>
      <p:sp>
        <p:nvSpPr>
          <p:cNvPr id="41" name="Text 39"/>
          <p:cNvSpPr/>
          <p:nvPr/>
        </p:nvSpPr>
        <p:spPr>
          <a:xfrm>
            <a:off x="6958584" y="1956816"/>
            <a:ext cx="1901952" cy="164592"/>
          </a:xfrm>
          <a:prstGeom prst="rect">
            <a:avLst/>
          </a:prstGeom>
          <a:noFill/>
          <a:ln/>
        </p:spPr>
        <p:txBody>
          <a:bodyPr wrap="square" lIns="0" tIns="0" rIns="0" bIns="0" rtlCol="0" anchor="ctr"/>
          <a:lstStyle/>
          <a:p>
            <a:pPr indent="0" marL="0">
              <a:buNone/>
            </a:pPr>
            <a:r>
              <a:rPr lang="en-US" sz="700" b="1" dirty="0">
                <a:solidFill>
                  <a:srgbClr val="E74C3C"/>
                </a:solidFill>
              </a:rPr>
              <a:t>❌ Cannot answer:</a:t>
            </a:r>
            <a:endParaRPr lang="en-US" sz="700" dirty="0"/>
          </a:p>
        </p:txBody>
      </p:sp>
      <p:sp>
        <p:nvSpPr>
          <p:cNvPr id="42" name="Text 40"/>
          <p:cNvSpPr/>
          <p:nvPr/>
        </p:nvSpPr>
        <p:spPr>
          <a:xfrm>
            <a:off x="6958584" y="2121408"/>
            <a:ext cx="1901952" cy="155448"/>
          </a:xfrm>
          <a:prstGeom prst="rect">
            <a:avLst/>
          </a:prstGeom>
          <a:noFill/>
          <a:ln/>
        </p:spPr>
        <p:txBody>
          <a:bodyPr wrap="square" lIns="0" tIns="0" rIns="0" bIns="0" rtlCol="0" anchor="ctr"/>
          <a:lstStyle/>
          <a:p>
            <a:pPr indent="0" marL="0">
              <a:buNone/>
            </a:pPr>
            <a:r>
              <a:rPr lang="en-US" sz="680" dirty="0">
                <a:solidFill>
                  <a:srgbClr val="374151"/>
                </a:solidFill>
              </a:rPr>
              <a:t>· Lookup by customer ID</a:t>
            </a:r>
            <a:endParaRPr lang="en-US" sz="680" dirty="0"/>
          </a:p>
        </p:txBody>
      </p:sp>
      <p:sp>
        <p:nvSpPr>
          <p:cNvPr id="43" name="Text 41"/>
          <p:cNvSpPr/>
          <p:nvPr/>
        </p:nvSpPr>
        <p:spPr>
          <a:xfrm>
            <a:off x="6958584" y="2276856"/>
            <a:ext cx="1901952" cy="155448"/>
          </a:xfrm>
          <a:prstGeom prst="rect">
            <a:avLst/>
          </a:prstGeom>
          <a:noFill/>
          <a:ln/>
        </p:spPr>
        <p:txBody>
          <a:bodyPr wrap="square" lIns="0" tIns="0" rIns="0" bIns="0" rtlCol="0" anchor="ctr"/>
          <a:lstStyle/>
          <a:p>
            <a:pPr indent="0" marL="0">
              <a:buNone/>
            </a:pPr>
            <a:r>
              <a:rPr lang="en-US" sz="680" dirty="0">
                <a:solidFill>
                  <a:srgbClr val="374151"/>
                </a:solidFill>
              </a:rPr>
              <a:t>· Counterfactual analysis</a:t>
            </a:r>
            <a:endParaRPr lang="en-US" sz="680" dirty="0"/>
          </a:p>
        </p:txBody>
      </p:sp>
      <p:sp>
        <p:nvSpPr>
          <p:cNvPr id="44" name="Text 42"/>
          <p:cNvSpPr/>
          <p:nvPr/>
        </p:nvSpPr>
        <p:spPr>
          <a:xfrm>
            <a:off x="6958584" y="2432304"/>
            <a:ext cx="1901952" cy="155448"/>
          </a:xfrm>
          <a:prstGeom prst="rect">
            <a:avLst/>
          </a:prstGeom>
          <a:noFill/>
          <a:ln/>
        </p:spPr>
        <p:txBody>
          <a:bodyPr wrap="square" lIns="0" tIns="0" rIns="0" bIns="0" rtlCol="0" anchor="ctr"/>
          <a:lstStyle/>
          <a:p>
            <a:pPr indent="0" marL="0">
              <a:buNone/>
            </a:pPr>
            <a:r>
              <a:rPr lang="en-US" sz="680" dirty="0">
                <a:solidFill>
                  <a:srgbClr val="374151"/>
                </a:solidFill>
              </a:rPr>
              <a:t>· Batch predictions</a:t>
            </a:r>
            <a:endParaRPr lang="en-US" sz="680" dirty="0"/>
          </a:p>
        </p:txBody>
      </p:sp>
      <p:sp>
        <p:nvSpPr>
          <p:cNvPr id="45" name="Shape 43"/>
          <p:cNvSpPr/>
          <p:nvPr/>
        </p:nvSpPr>
        <p:spPr>
          <a:xfrm>
            <a:off x="228600" y="3246120"/>
            <a:ext cx="5029200" cy="1627632"/>
          </a:xfrm>
          <a:prstGeom prst="roundRect">
            <a:avLst>
              <a:gd name="adj" fmla="val 4494"/>
            </a:avLst>
          </a:prstGeom>
          <a:solidFill>
            <a:srgbClr val="FFF5F5"/>
          </a:solidFill>
          <a:ln w="10160">
            <a:solidFill>
              <a:srgbClr val="E74C3C"/>
            </a:solidFill>
            <a:prstDash val="solid"/>
          </a:ln>
          <a:effectLst>
            <a:outerShdw sx="100000" sy="100000" kx="0" ky="0" algn="bl" rotWithShape="0" blurRad="38100" dist="12700" dir="2700000">
              <a:srgbClr val="000000">
                <a:alpha val="7000"/>
              </a:srgbClr>
            </a:outerShdw>
          </a:effectLst>
        </p:spPr>
      </p:sp>
      <p:sp>
        <p:nvSpPr>
          <p:cNvPr id="46" name="Text 44"/>
          <p:cNvSpPr/>
          <p:nvPr/>
        </p:nvSpPr>
        <p:spPr>
          <a:xfrm>
            <a:off x="347472" y="3310128"/>
            <a:ext cx="4791456" cy="219456"/>
          </a:xfrm>
          <a:prstGeom prst="rect">
            <a:avLst/>
          </a:prstGeom>
          <a:noFill/>
          <a:ln/>
        </p:spPr>
        <p:txBody>
          <a:bodyPr wrap="square" lIns="0" tIns="0" rIns="0" bIns="0" rtlCol="0" anchor="ctr"/>
          <a:lstStyle/>
          <a:p>
            <a:pPr indent="0" marL="0">
              <a:buNone/>
            </a:pPr>
            <a:r>
              <a:rPr lang="en-US" sz="850" b="1" dirty="0">
                <a:solidFill>
                  <a:srgbClr val="C0392B"/>
                </a:solidFill>
              </a:rPr>
              <a:t>❌  Questions no current tool can answer:</a:t>
            </a:r>
            <a:endParaRPr lang="en-US" sz="850" dirty="0"/>
          </a:p>
        </p:txBody>
      </p:sp>
      <p:sp>
        <p:nvSpPr>
          <p:cNvPr id="47" name="Text 45"/>
          <p:cNvSpPr/>
          <p:nvPr/>
        </p:nvSpPr>
        <p:spPr>
          <a:xfrm>
            <a:off x="347472" y="3566160"/>
            <a:ext cx="2423160" cy="274320"/>
          </a:xfrm>
          <a:prstGeom prst="rect">
            <a:avLst/>
          </a:prstGeom>
          <a:noFill/>
          <a:ln/>
        </p:spPr>
        <p:txBody>
          <a:bodyPr wrap="square" lIns="0" tIns="0" rIns="0" bIns="0" rtlCol="0" anchor="ctr"/>
          <a:lstStyle/>
          <a:p>
            <a:pPr indent="0" marL="0">
              <a:buNone/>
            </a:pPr>
            <a:r>
              <a:rPr lang="en-US" sz="750" dirty="0">
                <a:solidFill>
                  <a:srgbClr val="5D3333"/>
                </a:solidFill>
              </a:rPr>
              <a:t>· What is the average balance of churned customers?</a:t>
            </a:r>
            <a:endParaRPr lang="en-US" sz="750" dirty="0"/>
          </a:p>
        </p:txBody>
      </p:sp>
      <p:sp>
        <p:nvSpPr>
          <p:cNvPr id="48" name="Text 46"/>
          <p:cNvSpPr/>
          <p:nvPr/>
        </p:nvSpPr>
        <p:spPr>
          <a:xfrm>
            <a:off x="347472" y="3858768"/>
            <a:ext cx="2423160" cy="274320"/>
          </a:xfrm>
          <a:prstGeom prst="rect">
            <a:avLst/>
          </a:prstGeom>
          <a:noFill/>
          <a:ln/>
        </p:spPr>
        <p:txBody>
          <a:bodyPr wrap="square" lIns="0" tIns="0" rIns="0" bIns="0" rtlCol="0" anchor="ctr"/>
          <a:lstStyle/>
          <a:p>
            <a:pPr indent="0" marL="0">
              <a:buNone/>
            </a:pPr>
            <a:r>
              <a:rPr lang="en-US" sz="750" dirty="0">
                <a:solidFill>
                  <a:srgbClr val="5D3333"/>
                </a:solidFill>
              </a:rPr>
              <a:t>· Which customers have high balance AND 3+ products?</a:t>
            </a:r>
            <a:endParaRPr lang="en-US" sz="750" dirty="0"/>
          </a:p>
        </p:txBody>
      </p:sp>
      <p:sp>
        <p:nvSpPr>
          <p:cNvPr id="49" name="Text 47"/>
          <p:cNvSpPr/>
          <p:nvPr/>
        </p:nvSpPr>
        <p:spPr>
          <a:xfrm>
            <a:off x="347472" y="4151376"/>
            <a:ext cx="2423160" cy="274320"/>
          </a:xfrm>
          <a:prstGeom prst="rect">
            <a:avLst/>
          </a:prstGeom>
          <a:noFill/>
          <a:ln/>
        </p:spPr>
        <p:txBody>
          <a:bodyPr wrap="square" lIns="0" tIns="0" rIns="0" bIns="0" rtlCol="0" anchor="ctr"/>
          <a:lstStyle/>
          <a:p>
            <a:pPr indent="0" marL="0">
              <a:buNone/>
            </a:pPr>
            <a:r>
              <a:rPr lang="en-US" sz="750" dirty="0">
                <a:solidFill>
                  <a:srgbClr val="5D3333"/>
                </a:solidFill>
              </a:rPr>
              <a:t>· What is the revenue at risk from high-risk customers?</a:t>
            </a:r>
            <a:endParaRPr lang="en-US" sz="750" dirty="0"/>
          </a:p>
        </p:txBody>
      </p:sp>
      <p:sp>
        <p:nvSpPr>
          <p:cNvPr id="50" name="Text 48"/>
          <p:cNvSpPr/>
          <p:nvPr/>
        </p:nvSpPr>
        <p:spPr>
          <a:xfrm>
            <a:off x="2816352" y="3566160"/>
            <a:ext cx="2423160" cy="274320"/>
          </a:xfrm>
          <a:prstGeom prst="rect">
            <a:avLst/>
          </a:prstGeom>
          <a:noFill/>
          <a:ln/>
        </p:spPr>
        <p:txBody>
          <a:bodyPr wrap="square" lIns="0" tIns="0" rIns="0" bIns="0" rtlCol="0" anchor="ctr"/>
          <a:lstStyle/>
          <a:p>
            <a:pPr indent="0" marL="0">
              <a:buNone/>
            </a:pPr>
            <a:r>
              <a:rPr lang="en-US" sz="750" dirty="0">
                <a:solidFill>
                  <a:srgbClr val="5D3333"/>
                </a:solidFill>
              </a:rPr>
              <a:t>· Compare churn between male and female customers in Germany</a:t>
            </a:r>
            <a:endParaRPr lang="en-US" sz="750" dirty="0"/>
          </a:p>
        </p:txBody>
      </p:sp>
      <p:sp>
        <p:nvSpPr>
          <p:cNvPr id="51" name="Text 49"/>
          <p:cNvSpPr/>
          <p:nvPr/>
        </p:nvSpPr>
        <p:spPr>
          <a:xfrm>
            <a:off x="2816352" y="3858768"/>
            <a:ext cx="2423160" cy="274320"/>
          </a:xfrm>
          <a:prstGeom prst="rect">
            <a:avLst/>
          </a:prstGeom>
          <a:noFill/>
          <a:ln/>
        </p:spPr>
        <p:txBody>
          <a:bodyPr wrap="square" lIns="0" tIns="0" rIns="0" bIns="0" rtlCol="0" anchor="ctr"/>
          <a:lstStyle/>
          <a:p>
            <a:pPr indent="0" marL="0">
              <a:buNone/>
            </a:pPr>
            <a:r>
              <a:rPr lang="en-US" sz="750" dirty="0">
                <a:solidFill>
                  <a:srgbClr val="5D3333"/>
                </a:solidFill>
              </a:rPr>
              <a:t>· How does churn rate change across age buckets?</a:t>
            </a:r>
            <a:endParaRPr lang="en-US" sz="750" dirty="0"/>
          </a:p>
        </p:txBody>
      </p:sp>
      <p:sp>
        <p:nvSpPr>
          <p:cNvPr id="52" name="Text 50"/>
          <p:cNvSpPr/>
          <p:nvPr/>
        </p:nvSpPr>
        <p:spPr>
          <a:xfrm>
            <a:off x="2816352" y="4151376"/>
            <a:ext cx="2423160" cy="274320"/>
          </a:xfrm>
          <a:prstGeom prst="rect">
            <a:avLst/>
          </a:prstGeom>
          <a:noFill/>
          <a:ln/>
        </p:spPr>
        <p:txBody>
          <a:bodyPr wrap="square" lIns="0" tIns="0" rIns="0" bIns="0" rtlCol="0" anchor="ctr"/>
          <a:lstStyle/>
          <a:p>
            <a:pPr indent="0" marL="0">
              <a:buNone/>
            </a:pPr>
            <a:r>
              <a:rPr lang="en-US" sz="750" dirty="0">
                <a:solidFill>
                  <a:srgbClr val="5D3333"/>
                </a:solidFill>
              </a:rPr>
              <a:t>· What percentage of inactive customers have only 1 product?</a:t>
            </a:r>
            <a:endParaRPr lang="en-US" sz="750" dirty="0"/>
          </a:p>
        </p:txBody>
      </p:sp>
      <p:sp>
        <p:nvSpPr>
          <p:cNvPr id="53" name="Shape 51"/>
          <p:cNvSpPr/>
          <p:nvPr/>
        </p:nvSpPr>
        <p:spPr>
          <a:xfrm>
            <a:off x="5486400" y="3246120"/>
            <a:ext cx="3429000" cy="1627632"/>
          </a:xfrm>
          <a:prstGeom prst="roundRect">
            <a:avLst>
              <a:gd name="adj" fmla="val 4494"/>
            </a:avLst>
          </a:prstGeom>
          <a:solidFill>
            <a:srgbClr val="F0FFF4"/>
          </a:solidFill>
          <a:ln w="10160">
            <a:solidFill>
              <a:srgbClr val="27AE60"/>
            </a:solidFill>
            <a:prstDash val="solid"/>
          </a:ln>
          <a:effectLst>
            <a:outerShdw sx="100000" sy="100000" kx="0" ky="0" algn="bl" rotWithShape="0" blurRad="38100" dist="12700" dir="2700000">
              <a:srgbClr val="000000">
                <a:alpha val="7000"/>
              </a:srgbClr>
            </a:outerShdw>
          </a:effectLst>
        </p:spPr>
      </p:sp>
      <p:sp>
        <p:nvSpPr>
          <p:cNvPr id="54" name="Text 52"/>
          <p:cNvSpPr/>
          <p:nvPr/>
        </p:nvSpPr>
        <p:spPr>
          <a:xfrm>
            <a:off x="5605272" y="3310128"/>
            <a:ext cx="3191256" cy="219456"/>
          </a:xfrm>
          <a:prstGeom prst="rect">
            <a:avLst/>
          </a:prstGeom>
          <a:noFill/>
          <a:ln/>
        </p:spPr>
        <p:txBody>
          <a:bodyPr wrap="square" lIns="0" tIns="0" rIns="0" bIns="0" rtlCol="0" anchor="ctr"/>
          <a:lstStyle/>
          <a:p>
            <a:pPr indent="0" marL="0">
              <a:buNone/>
            </a:pPr>
            <a:r>
              <a:rPr lang="en-US" sz="850" b="1" dirty="0">
                <a:solidFill>
                  <a:srgbClr val="1E8449"/>
                </a:solidFill>
              </a:rPr>
              <a:t>✅  Python REPL Tool fixes this:</a:t>
            </a:r>
            <a:endParaRPr lang="en-US" sz="850" dirty="0"/>
          </a:p>
        </p:txBody>
      </p:sp>
      <p:sp>
        <p:nvSpPr>
          <p:cNvPr id="55" name="Text 53"/>
          <p:cNvSpPr/>
          <p:nvPr/>
        </p:nvSpPr>
        <p:spPr>
          <a:xfrm>
            <a:off x="5605272" y="3566160"/>
            <a:ext cx="3191256" cy="457200"/>
          </a:xfrm>
          <a:prstGeom prst="rect">
            <a:avLst/>
          </a:prstGeom>
          <a:noFill/>
          <a:ln/>
        </p:spPr>
        <p:txBody>
          <a:bodyPr wrap="square" lIns="0" tIns="0" rIns="0" bIns="0" rtlCol="0" anchor="ctr"/>
          <a:lstStyle/>
          <a:p>
            <a:pPr indent="0" marL="0">
              <a:buNone/>
            </a:pPr>
            <a:r>
              <a:rPr lang="en-US" sz="800" dirty="0">
                <a:solidFill>
                  <a:srgbClr val="374151"/>
                </a:solidFill>
              </a:rPr>
              <a:t>Instead of four fixed functions,</a:t>
            </a:r>
            <a:endParaRPr lang="en-US" sz="800" dirty="0"/>
          </a:p>
          <a:p>
            <a:pPr indent="0" marL="0">
              <a:buNone/>
            </a:pPr>
            <a:r>
              <a:rPr lang="en-US" sz="800" dirty="0">
                <a:solidFill>
                  <a:srgbClr val="374151"/>
                </a:solidFill>
              </a:rPr>
              <a:t>the agent writes its own pandas code</a:t>
            </a:r>
            <a:endParaRPr lang="en-US" sz="800" dirty="0"/>
          </a:p>
          <a:p>
            <a:pPr indent="0" marL="0">
              <a:buNone/>
            </a:pPr>
            <a:r>
              <a:rPr lang="en-US" sz="800" dirty="0">
                <a:solidFill>
                  <a:srgbClr val="374151"/>
                </a:solidFill>
              </a:rPr>
              <a:t>for any question on the fly.</a:t>
            </a:r>
            <a:endParaRPr lang="en-US" sz="800" dirty="0"/>
          </a:p>
        </p:txBody>
      </p:sp>
      <p:sp>
        <p:nvSpPr>
          <p:cNvPr id="56" name="Shape 54"/>
          <p:cNvSpPr/>
          <p:nvPr/>
        </p:nvSpPr>
        <p:spPr>
          <a:xfrm>
            <a:off x="5605272" y="4059936"/>
            <a:ext cx="3191256" cy="694944"/>
          </a:xfrm>
          <a:prstGeom prst="roundRect">
            <a:avLst>
              <a:gd name="adj" fmla="val 7895"/>
            </a:avLst>
          </a:prstGeom>
          <a:solidFill>
            <a:srgbClr val="1E293B"/>
          </a:solidFill>
          <a:ln w="12700">
            <a:solidFill>
              <a:srgbClr val="1E293B"/>
            </a:solidFill>
            <a:prstDash val="solid"/>
          </a:ln>
        </p:spPr>
      </p:sp>
      <p:sp>
        <p:nvSpPr>
          <p:cNvPr id="57" name="Text 55"/>
          <p:cNvSpPr/>
          <p:nvPr/>
        </p:nvSpPr>
        <p:spPr>
          <a:xfrm>
            <a:off x="5687568" y="4096512"/>
            <a:ext cx="3035808" cy="621792"/>
          </a:xfrm>
          <a:prstGeom prst="rect">
            <a:avLst/>
          </a:prstGeom>
          <a:noFill/>
          <a:ln/>
        </p:spPr>
        <p:txBody>
          <a:bodyPr wrap="square" lIns="0" tIns="0" rIns="0" bIns="0"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germany = df[df['Geography_Germany']==1]</a:t>
            </a:r>
            <a:endParaRPr lang="en-US" sz="750" dirty="0"/>
          </a:p>
          <a:p>
            <a:pPr indent="0" marL="0">
              <a:buNone/>
            </a:pPr>
            <a:r>
              <a:rPr lang="en-US" sz="750" dirty="0">
                <a:solidFill>
                  <a:srgbClr val="86EFAC"/>
                </a:solidFill>
                <a:latin typeface="Courier New" pitchFamily="34" charset="0"/>
                <a:ea typeface="Courier New" pitchFamily="34" charset="-122"/>
                <a:cs typeface="Courier New" pitchFamily="34" charset="-120"/>
              </a:rPr>
              <a:t>churned = germany[germany['Exited']==1]</a:t>
            </a:r>
            <a:endParaRPr lang="en-US" sz="750" dirty="0"/>
          </a:p>
          <a:p>
            <a:pPr indent="0" marL="0">
              <a:buNone/>
            </a:pPr>
            <a:r>
              <a:rPr lang="en-US" sz="750" dirty="0">
                <a:solidFill>
                  <a:srgbClr val="86EFAC"/>
                </a:solidFill>
                <a:latin typeface="Courier New" pitchFamily="34" charset="0"/>
                <a:ea typeface="Courier New" pitchFamily="34" charset="-122"/>
                <a:cs typeface="Courier New" pitchFamily="34" charset="-120"/>
              </a:rPr>
              <a:t>print(churned['Balance'].mean())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1548</Words>
  <Application>Microsoft Macintosh PowerPoint</Application>
  <PresentationFormat>On-screen Show (16:9)</PresentationFormat>
  <Paragraphs>159</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Churn Intelligence System</dc:title>
  <dc:subject>PptxGenJS Presentation</dc:subject>
  <dc:creator>PptxGenJS</dc:creator>
  <cp:lastModifiedBy>Suyash Mhetre</cp:lastModifiedBy>
  <cp:revision>3</cp:revision>
  <dcterms:created xsi:type="dcterms:W3CDTF">2026-07-05T20:08:19Z</dcterms:created>
  <dcterms:modified xsi:type="dcterms:W3CDTF">2026-07-05T21:16:53Z</dcterms:modified>
</cp:coreProperties>
</file>