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4614"/>
  </p:normalViewPr>
  <p:slideViewPr>
    <p:cSldViewPr snapToGrid="0" snapToObjects="1">
      <p:cViewPr varScale="1">
        <p:scale>
          <a:sx n="147" d="100"/>
          <a:sy n="147" d="100"/>
        </p:scale>
        <p:origin x="7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11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www.kaggle.com</a:t>
            </a:r>
            <a:r>
              <a:rPr lang="en-US" dirty="0"/>
              <a:t>/datasets/</a:t>
            </a:r>
            <a:r>
              <a:rPr lang="en-US" dirty="0" err="1"/>
              <a:t>shrutimechlearn</a:t>
            </a:r>
            <a:r>
              <a:rPr lang="en-US"/>
              <a:t>/churn-modelling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1A5276"/>
                </a:solidFill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Everyone on LinkedIn is talking about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Agents and Multi-Agent Systems.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8C4E0"/>
                </a:solidFill>
              </a:rPr>
              <a:t>I had no idea what any of it actually meant.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0" cy="0"/>
          </a:xfrm>
          <a:prstGeom prst="line">
            <a:avLst/>
          </a:prstGeom>
          <a:noFill/>
          <a:ln w="190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 I built something to find out.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A2F52"/>
          </a:solidFill>
          <a:ln w="1016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345643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is a multi-agent system really?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391363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7FB3D3"/>
                </a:solidFill>
              </a:rPr>
              <a:t>Not the LinkedIn definition. The actual thing.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A2F52"/>
          </a:solidFill>
          <a:ln w="1016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01568" y="345643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Where does AI actually help?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01568" y="391363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7FB3D3"/>
                </a:solidFill>
              </a:rPr>
              <a:t>And where is it just complexity for its own sake.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A2F52"/>
          </a:solidFill>
          <a:ln w="1016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36208" y="345643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Can I build something useful with it?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36208" y="391363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7FB3D3"/>
                </a:solidFill>
              </a:rPr>
              <a:t>Not a demo. Something that solves a real problem.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468172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I built:  A bank customer churn intelligence system using multi-agent orchestration, LangGraph, GPT-4o-mini, and Streamlit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Problem We Solved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</a:rPr>
              <a:t>Bank Churn Intelligence System  ·  Business Case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5F5"/>
          </a:solidFill>
          <a:ln w="15240">
            <a:solidFill>
              <a:srgbClr val="E74C3C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</a:rPr>
              <a:t>Model sits behind a static 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1719072"/>
            <a:ext cx="3602736" cy="438912"/>
          </a:xfrm>
          <a:prstGeom prst="roundRect">
            <a:avLst>
              <a:gd name="adj" fmla="val 12500"/>
            </a:avLst>
          </a:prstGeom>
          <a:solidFill>
            <a:srgbClr val="FEF0F0"/>
          </a:solidFill>
          <a:ln w="635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737360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333"/>
                </a:solidFill>
              </a:rPr>
              <a:t>⏳  Analyst sees churn rate is 20%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3333"/>
                </a:solidFill>
              </a:rPr>
              <a:t>Asks DS team what it means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8912" y="2212848"/>
            <a:ext cx="3602736" cy="438912"/>
          </a:xfrm>
          <a:prstGeom prst="roundRect">
            <a:avLst>
              <a:gd name="adj" fmla="val 12500"/>
            </a:avLst>
          </a:prstGeom>
          <a:solidFill>
            <a:srgbClr val="FEF0F0"/>
          </a:solidFill>
          <a:ln w="635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231136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333"/>
                </a:solidFill>
              </a:rPr>
              <a:t>📧  DS team writes custom query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3333"/>
                </a:solidFill>
              </a:rPr>
              <a:t>Sends spreadsheet 2 days later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8912" y="2706624"/>
            <a:ext cx="3602736" cy="438912"/>
          </a:xfrm>
          <a:prstGeom prst="roundRect">
            <a:avLst>
              <a:gd name="adj" fmla="val 12500"/>
            </a:avLst>
          </a:prstGeom>
          <a:solidFill>
            <a:srgbClr val="FEF0F0"/>
          </a:solidFill>
          <a:ln w="635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724912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333"/>
                </a:solidFill>
              </a:rPr>
              <a:t>🔄  Manager asks follow-up question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3333"/>
                </a:solidFill>
              </a:rPr>
              <a:t>Cycle repeats for a week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8912" y="3200400"/>
            <a:ext cx="3602736" cy="438912"/>
          </a:xfrm>
          <a:prstGeom prst="roundRect">
            <a:avLst>
              <a:gd name="adj" fmla="val 12500"/>
            </a:avLst>
          </a:prstGeom>
          <a:solidFill>
            <a:srgbClr val="FEF0F0"/>
          </a:solidFill>
          <a:ln w="635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218688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333"/>
                </a:solidFill>
              </a:rPr>
              <a:t>📞  Retention team calls customers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3333"/>
                </a:solidFill>
              </a:rPr>
              <a:t>With generic script, no context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8912" y="3694176"/>
            <a:ext cx="3602736" cy="438912"/>
          </a:xfrm>
          <a:prstGeom prst="roundRect">
            <a:avLst>
              <a:gd name="adj" fmla="val 12500"/>
            </a:avLst>
          </a:prstGeom>
          <a:solidFill>
            <a:srgbClr val="FEF0F0"/>
          </a:solidFill>
          <a:ln w="635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712464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333"/>
                </a:solidFill>
              </a:rPr>
              <a:t>💸  Customer churns anyway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3333"/>
                </a:solidFill>
              </a:rPr>
              <a:t>Insight came too late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15968" y="2377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3B66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937760" y="86868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FF4"/>
          </a:solidFill>
          <a:ln w="15240">
            <a:solidFill>
              <a:srgbClr val="27AE6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449"/>
                </a:solidFill>
              </a:rPr>
              <a:t>AFTER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1325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</a:rPr>
              <a:t>Any team. Any question. 30 seconds.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02352" y="1719072"/>
            <a:ext cx="3602736" cy="438912"/>
          </a:xfrm>
          <a:prstGeom prst="roundRect">
            <a:avLst>
              <a:gd name="adj" fmla="val 12500"/>
            </a:avLst>
          </a:prstGeom>
          <a:solidFill>
            <a:srgbClr val="E8F8EE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93792" y="1737360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4731"/>
                </a:solidFill>
              </a:rPr>
              <a:t>💬  Analyst types question in plain English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4731"/>
                </a:solidFill>
              </a:rPr>
              <a:t>No SQL. No waiting.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02352" y="2212848"/>
            <a:ext cx="3602736" cy="438912"/>
          </a:xfrm>
          <a:prstGeom prst="roundRect">
            <a:avLst>
              <a:gd name="adj" fmla="val 12500"/>
            </a:avLst>
          </a:prstGeom>
          <a:solidFill>
            <a:srgbClr val="E8F8EE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93792" y="2231136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4731"/>
                </a:solidFill>
              </a:rPr>
              <a:t>🤖  AI reasons over the model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4731"/>
                </a:solidFill>
              </a:rPr>
              <a:t>Returns grounded answer in 30 sec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02352" y="2706624"/>
            <a:ext cx="3602736" cy="438912"/>
          </a:xfrm>
          <a:prstGeom prst="roundRect">
            <a:avLst>
              <a:gd name="adj" fmla="val 12500"/>
            </a:avLst>
          </a:prstGeom>
          <a:solidFill>
            <a:srgbClr val="E8F8EE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93792" y="2724912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4731"/>
                </a:solidFill>
              </a:rPr>
              <a:t>📋  Retention team gets a call list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4731"/>
                </a:solidFill>
              </a:rPr>
              <a:t>With personalized talking points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02352" y="3200400"/>
            <a:ext cx="3602736" cy="438912"/>
          </a:xfrm>
          <a:prstGeom prst="roundRect">
            <a:avLst>
              <a:gd name="adj" fmla="val 12500"/>
            </a:avLst>
          </a:prstGeom>
          <a:solidFill>
            <a:srgbClr val="E8F8EE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93792" y="3218688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4731"/>
                </a:solidFill>
              </a:rPr>
              <a:t>🎯  Marketing targets the right segment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4731"/>
                </a:solidFill>
              </a:rPr>
              <a:t>Same day, no DS team needed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02352" y="3694176"/>
            <a:ext cx="3602736" cy="438912"/>
          </a:xfrm>
          <a:prstGeom prst="roundRect">
            <a:avLst>
              <a:gd name="adj" fmla="val 12500"/>
            </a:avLst>
          </a:prstGeom>
          <a:solidFill>
            <a:srgbClr val="E8F8EE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93792" y="3712464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4731"/>
                </a:solidFill>
              </a:rPr>
              <a:t>✅  DS team builds the next model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4731"/>
                </a:solidFill>
              </a:rPr>
              <a:t>Not answering Slack messages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470916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727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⚡ Insight to action: 2 weeks → 30 seconds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42032" y="4727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👥 Every team accesses the same model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18304" y="4727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💰 DS team focused on building, not answering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894576" y="4727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📈 Customers contacted before they leave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It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</a:rPr>
              <a:t>Bank Churn Intelligence System  ·  Key Concepts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1024128"/>
          </a:xfrm>
          <a:prstGeom prst="roundRect">
            <a:avLst>
              <a:gd name="adj" fmla="val 8929"/>
            </a:avLst>
          </a:prstGeom>
          <a:solidFill>
            <a:srgbClr val="F0FFF4"/>
          </a:solidFill>
          <a:ln w="15240">
            <a:solidFill>
              <a:srgbClr val="27AE6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9601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</a:rPr>
              <a:t>ANALYST asks a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2893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Types in plain English through a Streamlit web app hosted on your intranet. No SQL. No training required. Any team can use it.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</a:rPr>
              <a:t>"Which customers should my team call this week and what should we say to each one?"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26280" y="1892808"/>
            <a:ext cx="0" cy="1371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8595360" cy="1024128"/>
          </a:xfrm>
          <a:prstGeom prst="roundRect">
            <a:avLst>
              <a:gd name="adj" fmla="val 8929"/>
            </a:avLst>
          </a:prstGeom>
          <a:solidFill>
            <a:srgbClr val="EEF4FF"/>
          </a:solidFill>
          <a:ln w="15240">
            <a:solidFill>
              <a:srgbClr val="3B82F6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21214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121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0A0"/>
                </a:solidFill>
              </a:rPr>
              <a:t>REASONING AGENT decides what to look 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450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GPT-4o-mini reads the question, decides which tools to call, calls them, and synthesizes one plain-English answer. It never makes up numbers. Every answer comes from the actual model.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27432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</a:rPr>
              <a:t>Calls: get_high_risk_customers() · get_churn_drivers() · predict_churn(customer)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26280" y="3054096"/>
            <a:ext cx="0" cy="1371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191256"/>
            <a:ext cx="8595360" cy="1024128"/>
          </a:xfrm>
          <a:prstGeom prst="roundRect">
            <a:avLst>
              <a:gd name="adj" fmla="val 8929"/>
            </a:avLst>
          </a:prstGeom>
          <a:solidFill>
            <a:srgbClr val="FFFBEA"/>
          </a:solidFill>
          <a:ln w="1524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" y="32826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28269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ML PIPELINE runs the actual prediction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3611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Random Forest trained on 10,000 customers. ROC-AUC 0.8503. Identifies 1,425 high-risk customers. Trains once at startup. Same model answers every question.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904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</a:rPr>
              <a:t>Ingestion → EDA → Random Forest → Feature Importance → Churn Probability per customer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389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4748B"/>
                </a:solidFill>
              </a:rPr>
              <a:t>KEY TERMS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3B66"/>
                </a:solidFill>
              </a:rPr>
              <a:t>LangGraph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" y="4754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Manages the pipeline flow with conditional routing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6032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3B66"/>
                </a:solidFill>
              </a:rPr>
              <a:t>LangChain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60320" y="4754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Connects the AI to the tools it can call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0916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3B66"/>
                </a:solidFill>
              </a:rPr>
              <a:t>ROC-AUC 0.85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09160" y="4754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Model correctly ranks risk 85% of the time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85800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3B66"/>
                </a:solidFill>
              </a:rPr>
              <a:t>Multi-Agent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0" y="4754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Specialized components coordinated by one orchestrator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Risks and Data Exposure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C4E0"/>
                </a:solidFill>
              </a:rPr>
              <a:t>Bank Churn Intelligence System  ·  Compliance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8FAFF"/>
          </a:solidFill>
          <a:ln w="13970">
            <a:solidFill>
              <a:srgbClr val="3B82F6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905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0A0"/>
                </a:solidFill>
              </a:rPr>
              <a:t>🔒  WHAT WE SEND TO AI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886200" cy="804672"/>
          </a:xfrm>
          <a:prstGeom prst="roundRect">
            <a:avLst>
              <a:gd name="adj" fmla="val 7955"/>
            </a:avLst>
          </a:prstGeom>
          <a:solidFill>
            <a:srgbClr val="F0FFF4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40A0"/>
                </a:solidFill>
              </a:rPr>
              <a:t>InsightAgent → GPT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182112" y="1325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7AE60"/>
                </a:solidFill>
              </a:rPr>
              <a:t>✅ Safe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Aggregated stats only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Churn rates by segment, feature importances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No individual customer data ever sent to GPT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3886200" cy="804672"/>
          </a:xfrm>
          <a:prstGeom prst="roundRect">
            <a:avLst>
              <a:gd name="adj" fmla="val 7955"/>
            </a:avLst>
          </a:prstGeom>
          <a:solidFill>
            <a:srgbClr val="FFF8F0"/>
          </a:solidFill>
          <a:ln w="6350">
            <a:solidFill>
              <a:srgbClr val="F8C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240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40A0"/>
                </a:solidFill>
              </a:rPr>
              <a:t>Reasoning Agent → GPT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82112" y="22402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E67E22"/>
                </a:solidFill>
              </a:rPr>
              <a:t>⚠️ Needs review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5488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Row-level attributes sent to GPT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Age, balance, products, geography, activity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No name, SSN, account number, transactions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3090672"/>
            <a:ext cx="3886200" cy="804672"/>
          </a:xfrm>
          <a:prstGeom prst="roundRect">
            <a:avLst>
              <a:gd name="adj" fmla="val 7955"/>
            </a:avLst>
          </a:prstGeom>
          <a:solidFill>
            <a:srgbClr val="F0FFF4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154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40A0"/>
                </a:solidFill>
              </a:rPr>
              <a:t>Raw Customer Database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82112" y="31546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7AE60"/>
                </a:solidFill>
              </a:rPr>
              <a:t>✅ Safe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5488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Never sent anywhere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Stays entirely on your server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GPT never touches it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5F5"/>
          </a:solidFill>
          <a:ln w="13970">
            <a:solidFill>
              <a:srgbClr val="E74C3C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0328" y="905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⚠️  THE REAL DATA RISK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10328" y="123444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When an analyst asks which customers to call,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the tool returns individual attributes and sends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them to GPT as part of the prompt.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92040" y="1792224"/>
            <a:ext cx="3886200" cy="932688"/>
          </a:xfrm>
          <a:prstGeom prst="roundRect">
            <a:avLst>
              <a:gd name="adj" fmla="val 6863"/>
            </a:avLst>
          </a:prstGeom>
          <a:solidFill>
            <a:srgbClr val="FEF0F0"/>
          </a:solidFill>
          <a:ln w="6350">
            <a:solidFill>
              <a:srgbClr val="F1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1847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What GPT receives: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204825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3333"/>
                </a:solidFill>
              </a:rPr>
              <a:t>Customer 4821: 94% churn risk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D3333"/>
                </a:solidFill>
              </a:rPr>
              <a:t>Age: 52  ·  Balance: $145,000  ·  Products: 3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D3333"/>
                </a:solidFill>
              </a:rPr>
              <a:t>Active: No  ·  Geography: Germany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92040" y="2788920"/>
            <a:ext cx="3886200" cy="749808"/>
          </a:xfrm>
          <a:prstGeom prst="roundRect">
            <a:avLst>
              <a:gd name="adj" fmla="val 8537"/>
            </a:avLst>
          </a:prstGeom>
          <a:solidFill>
            <a:srgbClr val="F0FFF4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10912" y="2843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449"/>
                </a:solidFill>
              </a:rPr>
              <a:t>What GPT never sees: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10912" y="30449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4731"/>
                </a:solidFill>
              </a:rPr>
              <a:t>Full name  ·  SSN  ·  Account number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4731"/>
                </a:solidFill>
              </a:rPr>
              <a:t>Transaction history  ·  Home address  ·  Phone number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92040" y="3611880"/>
            <a:ext cx="3886200" cy="1024128"/>
          </a:xfrm>
          <a:prstGeom prst="roundRect">
            <a:avLst>
              <a:gd name="adj" fmla="val 7143"/>
            </a:avLst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10912" y="3666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C4E0"/>
                </a:solidFill>
              </a:rPr>
              <a:t>Production fix: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10912" y="38679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Run a local LLM (Llama 3 or Mistral) on your own server.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Same architecture. One line of code changed.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Data never leaves your network.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Comes Next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C4E0"/>
                </a:solidFill>
              </a:rPr>
              <a:t>Bank Churn Intelligence System  ·  Roadmap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5F0FF"/>
          </a:solidFill>
          <a:ln w="13970">
            <a:solidFill>
              <a:srgbClr val="8B5CF6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905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1B6"/>
                </a:solidFill>
              </a:rPr>
              <a:t>🧠  VECTOR DATABASE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Right now the agent forgets everything when you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restart. Every session starts from scratch.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A vector database gives it long-term memory.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3886200" cy="932688"/>
          </a:xfrm>
          <a:prstGeom prst="roundRect">
            <a:avLst>
              <a:gd name="adj" fmla="val 6863"/>
            </a:avLst>
          </a:prstGeom>
          <a:solidFill>
            <a:srgbClr val="FEF0F0"/>
          </a:solidFill>
          <a:ln w="6350">
            <a:solidFill>
              <a:srgbClr val="F1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847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Without vector database: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04825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3333"/>
                </a:solidFill>
              </a:rPr>
              <a:t>"Last week Germany churn was 32%. Has it changed?"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D3333"/>
                </a:solidFill>
              </a:rPr>
              <a:t>Agent: "I don't know what happened last week."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D3333"/>
                </a:solidFill>
              </a:rPr>
              <a:t>Agent: "I can only see the current session."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3886200" cy="932688"/>
          </a:xfrm>
          <a:prstGeom prst="roundRect">
            <a:avLst>
              <a:gd name="adj" fmla="val 6863"/>
            </a:avLst>
          </a:prstGeom>
          <a:solidFill>
            <a:srgbClr val="EDE9FF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843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21B6"/>
                </a:solidFill>
              </a:rPr>
              <a:t>With vector database: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B1F8C"/>
                </a:solidFill>
              </a:rPr>
              <a:t>Agent retrieves last week's session automatically.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B1F8C"/>
                </a:solidFill>
              </a:rPr>
              <a:t>Agent: "Germany was 32.44% last week."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B1F8C"/>
                </a:solidFill>
              </a:rPr>
              <a:t>Agent: "This week 33.1%. Trend is worsening."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3886200" cy="841248"/>
          </a:xfrm>
          <a:prstGeom prst="roundRect">
            <a:avLst>
              <a:gd name="adj" fmla="val 7609"/>
            </a:avLst>
          </a:prstGeom>
          <a:solidFill>
            <a:srgbClr val="F5F0FF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38496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21B6"/>
                </a:solidFill>
              </a:rPr>
              <a:t>What gets stored vs what does not: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40507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✅ Stored: Q&amp;A summaries, campaign outcomes, model performance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❌ Never stored: raw customer data, PII, account numbers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0FFF4"/>
          </a:solidFill>
          <a:ln w="13970">
            <a:solidFill>
              <a:srgbClr val="27AE6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0328" y="905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</a:rPr>
              <a:t>🚀  WHAT COMES NEXT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1243584"/>
            <a:ext cx="3886200" cy="804672"/>
          </a:xfrm>
          <a:prstGeom prst="roundRect">
            <a:avLst>
              <a:gd name="adj" fmla="val 7955"/>
            </a:avLst>
          </a:prstGeom>
          <a:solidFill>
            <a:srgbClr val="E8F8EE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83480" y="1353312"/>
            <a:ext cx="274320" cy="237744"/>
          </a:xfrm>
          <a:prstGeom prst="roundRect">
            <a:avLst>
              <a:gd name="adj" fmla="val 1923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13533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330952" y="135331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</a:rPr>
              <a:t>Python REPL Tool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16459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Agent writes its own pandas code on the fly. Answers any question the data can answer. Fixes the Germany analysis gap and the revenue at risk gap.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892040" y="2139696"/>
            <a:ext cx="3886200" cy="804672"/>
          </a:xfrm>
          <a:prstGeom prst="roundRect">
            <a:avLst>
              <a:gd name="adj" fmla="val 7955"/>
            </a:avLst>
          </a:prstGeom>
          <a:solidFill>
            <a:srgbClr val="E8F8EE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83480" y="2249424"/>
            <a:ext cx="274320" cy="237744"/>
          </a:xfrm>
          <a:prstGeom prst="roundRect">
            <a:avLst>
              <a:gd name="adj" fmla="val 1923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24942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30952" y="2249424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</a:rPr>
              <a:t>Local LLM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25420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Swap GPT for Llama 3 or Mistral on your own server. Same architecture, one line changed. Zero data leaves your network.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892040" y="3035808"/>
            <a:ext cx="3886200" cy="804672"/>
          </a:xfrm>
          <a:prstGeom prst="roundRect">
            <a:avLst>
              <a:gd name="adj" fmla="val 7955"/>
            </a:avLst>
          </a:prstGeom>
          <a:solidFill>
            <a:srgbClr val="E8F8EE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83480" y="3145536"/>
            <a:ext cx="274320" cy="237744"/>
          </a:xfrm>
          <a:prstGeom prst="roundRect">
            <a:avLst>
              <a:gd name="adj" fmla="val 1923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31455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330952" y="3145536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</a:rPr>
              <a:t>Vector Database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343814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Agent remembers decisions and outcomes across sessions. Stores summaries only. No raw customer PII stored.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892040" y="3931920"/>
            <a:ext cx="3886200" cy="804672"/>
          </a:xfrm>
          <a:prstGeom prst="roundRect">
            <a:avLst>
              <a:gd name="adj" fmla="val 7955"/>
            </a:avLst>
          </a:prstGeom>
          <a:solidFill>
            <a:srgbClr val="E8F8EE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983480" y="4041648"/>
            <a:ext cx="274320" cy="237744"/>
          </a:xfrm>
          <a:prstGeom prst="roundRect">
            <a:avLst>
              <a:gd name="adj" fmla="val 1923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83480" y="40416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330952" y="404164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</a:rPr>
              <a:t>Automated Outreach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3480" y="433425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Human sets offer types and budget upfront. System identifies and targets each customer. Human approves. Model drives the action.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and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C4E0"/>
                </a:solidFill>
              </a:rPr>
              <a:t>Bank Churn Intelligence System  ·  Honest Assessment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5F5"/>
          </a:solidFill>
          <a:ln w="13970">
            <a:solidFill>
              <a:srgbClr val="E74C3C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905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⚠️  CHALLENGES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3886200" cy="658368"/>
          </a:xfrm>
          <a:prstGeom prst="roundRect">
            <a:avLst>
              <a:gd name="adj" fmla="val 9722"/>
            </a:avLst>
          </a:prstGeom>
          <a:solidFill>
            <a:srgbClr val="FEF0F0"/>
          </a:solidFill>
          <a:ln w="6350">
            <a:solidFill>
              <a:srgbClr val="F1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307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AI still needs a data scientist first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517904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Model must be built and validated by a human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475488" y="1691640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Domain knowledge cannot be automated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3886200" cy="841248"/>
          </a:xfrm>
          <a:prstGeom prst="roundRect">
            <a:avLst>
              <a:gd name="adj" fmla="val 7609"/>
            </a:avLst>
          </a:prstGeom>
          <a:solidFill>
            <a:srgbClr val="FEF0F0"/>
          </a:solidFill>
          <a:ln w="6350">
            <a:solidFill>
              <a:srgbClr val="F1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075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REPL tool is not a data scientist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286000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Works for simple aggregations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459736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Fails on complex domain-specific logic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75488" y="263347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Silent wrong answers are dangerous in banking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3886200" cy="841248"/>
          </a:xfrm>
          <a:prstGeom prst="roundRect">
            <a:avLst>
              <a:gd name="adj" fmla="val 7609"/>
            </a:avLst>
          </a:prstGeom>
          <a:solidFill>
            <a:srgbClr val="FEF0F0"/>
          </a:solidFill>
          <a:ln w="6350">
            <a:solidFill>
              <a:srgbClr val="F1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0266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Data exposure needs governance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3236976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Row-level attributes go to third-party API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75488" y="341071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Requires vendor risk assessment or local LLM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75488" y="3584448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Same data policies apply as any system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3886200" cy="658368"/>
          </a:xfrm>
          <a:prstGeom prst="roundRect">
            <a:avLst>
              <a:gd name="adj" fmla="val 9722"/>
            </a:avLst>
          </a:prstGeom>
          <a:solidFill>
            <a:srgbClr val="FEF0F0"/>
          </a:solidFill>
          <a:ln w="6350">
            <a:solidFill>
              <a:srgbClr val="F1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977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Agent answers can vary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418795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LLMs are probabilistic not deterministic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75488" y="4361688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Same question can get slightly different answers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0FFF4"/>
          </a:solidFill>
          <a:ln w="13970">
            <a:solidFill>
              <a:srgbClr val="27AE6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0328" y="905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</a:rPr>
              <a:t>✅  CONCLUSION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1243584"/>
            <a:ext cx="3886200" cy="1261872"/>
          </a:xfrm>
          <a:prstGeom prst="roundRect">
            <a:avLst>
              <a:gd name="adj" fmla="val 5072"/>
            </a:avLst>
          </a:prstGeom>
          <a:solidFill>
            <a:srgbClr val="E8F8EE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10912" y="1307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449"/>
                </a:solidFill>
              </a:rPr>
              <a:t>What this system actually is: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10912" y="15361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DS builds and validates the model (unchanged)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5010912" y="17190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Model outputs wrapped as callable tools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5010912" y="1901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AI reasoning agent sits on top as the interface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5010912" y="20848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Any team queries the model in plain English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5010912" y="22677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74151"/>
                </a:solidFill>
              </a:rPr>
              <a:t>·  No SQL. No waiting. No DS in the loop.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892040" y="2578608"/>
            <a:ext cx="3886200" cy="1078992"/>
          </a:xfrm>
          <a:prstGeom prst="roundRect">
            <a:avLst>
              <a:gd name="adj" fmla="val 5932"/>
            </a:avLst>
          </a:prstGeom>
          <a:solidFill>
            <a:srgbClr val="E8F8EE"/>
          </a:solidFill>
          <a:ln w="6350">
            <a:solidFill>
              <a:srgbClr val="82E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10912" y="2642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449"/>
                </a:solidFill>
              </a:rPr>
              <a:t>What AI does vs does not do: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10912" y="28712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4731"/>
                </a:solidFill>
              </a:rPr>
              <a:t>✅  Answers plain-English questions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5010912" y="30358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4731"/>
                </a:solidFill>
              </a:rPr>
              <a:t>✅  Routes between tools dynamically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5010912" y="32004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4731"/>
                </a:solidFill>
              </a:rPr>
              <a:t>✅  Synthesizes insights for any team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5010912" y="33649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C2D12"/>
                </a:solidFill>
              </a:rPr>
              <a:t>❌  Replace domain expertise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5010912" y="35295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C2D12"/>
                </a:solidFill>
              </a:rPr>
              <a:t>❌  Validate or build the model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892040" y="3749040"/>
            <a:ext cx="3886200" cy="932688"/>
          </a:xfrm>
          <a:prstGeom prst="roundRect">
            <a:avLst>
              <a:gd name="adj" fmla="val 7843"/>
            </a:avLst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10912" y="380390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data scientist moves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being a human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 being a model builder.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Appendix: Current Tool Limitations and the Need for REPL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Bank Churn Intelligence System  ·  Technical Detail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10160">
            <a:solidFill>
              <a:srgbClr val="64748B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1752" y="8503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get_portfolio_summary()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7AE60"/>
                </a:solidFill>
              </a:rPr>
              <a:t>✅ Can answer: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1316736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Overall churn rate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20040" y="1472184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Risk distribution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320040" y="1627632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Top 3 drivers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320040" y="1783080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Model performance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320040" y="195681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74C3C"/>
                </a:solidFill>
              </a:rPr>
              <a:t>❌ Cannot answer: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040" y="2121408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Any custom breakdown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320040" y="2276856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No parameters accepted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2441448" y="804672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10160">
            <a:solidFill>
              <a:srgbClr val="64748B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14600" y="8503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get_churn_drivers(segment)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32888" y="115214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7AE60"/>
                </a:solidFill>
              </a:rPr>
              <a:t>✅ Can answer: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532888" y="1316736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Overall feature importance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2532888" y="1472184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Churn by geography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2532888" y="1627632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Churn by activity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532888" y="1783080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Churn by products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2532888" y="195681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74C3C"/>
                </a:solidFill>
              </a:rPr>
              <a:t>❌ Cannot answer: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532888" y="2121408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Segment-specific importance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2532888" y="2276856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Custom segments (age, salary)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4654296" y="804672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10160">
            <a:solidFill>
              <a:srgbClr val="64748B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27448" y="8503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get_high_risk_customers(n)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5736" y="115214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7AE60"/>
                </a:solidFill>
              </a:rPr>
              <a:t>✅ Can answer: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45736" y="1316736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Top N by churn probability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4745736" y="1472184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Adjustable threshold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4745736" y="1627632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Customer attributes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4745736" y="195681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74C3C"/>
                </a:solidFill>
              </a:rPr>
              <a:t>❌ Cannot answer: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45736" y="2121408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Filter by geography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45736" y="2276856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Filter by balance or products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4745736" y="2432304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Cross-attribute filtering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6867144" y="804672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10160">
            <a:solidFill>
              <a:srgbClr val="64748B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40296" y="8503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predict_churn(attributes)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58584" y="115214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7AE60"/>
                </a:solidFill>
              </a:rPr>
              <a:t>✅ Can answer: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958584" y="1316736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One customer at a time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6958584" y="1472184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Any attribute profile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6958584" y="1627632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Risk label + action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6958584" y="195681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74C3C"/>
                </a:solidFill>
              </a:rPr>
              <a:t>❌ Cannot answer: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58584" y="2121408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Lookup by customer ID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6958584" y="2276856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Counterfactual analysis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6958584" y="2432304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374151"/>
                </a:solidFill>
              </a:rPr>
              <a:t>· Batch predictions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228600" y="3246120"/>
            <a:ext cx="5029200" cy="1627632"/>
          </a:xfrm>
          <a:prstGeom prst="roundRect">
            <a:avLst>
              <a:gd name="adj" fmla="val 4494"/>
            </a:avLst>
          </a:prstGeom>
          <a:solidFill>
            <a:srgbClr val="FFF5F5"/>
          </a:solidFill>
          <a:ln w="10160">
            <a:solidFill>
              <a:srgbClr val="E74C3C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7472" y="331012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❌  Questions no current tool can answer: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47472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3333"/>
                </a:solidFill>
              </a:rPr>
              <a:t>· What is the average balance of churned customers?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47472" y="3858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3333"/>
                </a:solidFill>
              </a:rPr>
              <a:t>· Which customers have high balance AND 3+ products?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47472" y="4151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3333"/>
                </a:solidFill>
              </a:rPr>
              <a:t>· What is the revenue at risk from high-risk customers?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816352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3333"/>
                </a:solidFill>
              </a:rPr>
              <a:t>· Compare churn between male and female in Germany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816352" y="3858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3333"/>
                </a:solidFill>
              </a:rPr>
              <a:t>· How does churn rate change across age buckets?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816352" y="4151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3333"/>
                </a:solidFill>
              </a:rPr>
              <a:t>· What percentage of inactive customers have only 1 product?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486400" y="3246120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0FFF4"/>
          </a:solidFill>
          <a:ln w="10160">
            <a:solidFill>
              <a:srgbClr val="27AE60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605272" y="331012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449"/>
                </a:solidFill>
              </a:rPr>
              <a:t>✅  Python REPL Tool fixes this: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605272" y="356616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Instead of four fixed functions,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the agent writes its own pandas code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for any question on the fly.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05272" y="4059936"/>
            <a:ext cx="3191256" cy="694944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687568" y="4096512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germany = df[df['Geography_Germany']==1]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churned = germany[germany['Exited']==1]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print(churned['Balance'].mean())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1478</Words>
  <Application>Microsoft Macintosh PowerPoint</Application>
  <PresentationFormat>On-screen Show (16:9)</PresentationFormat>
  <Paragraphs>222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Churn Intelligence System</dc:title>
  <dc:subject>PptxGenJS Presentation</dc:subject>
  <dc:creator>PptxGenJS</dc:creator>
  <cp:lastModifiedBy>Suyash Mhetre</cp:lastModifiedBy>
  <cp:revision>2</cp:revision>
  <dcterms:created xsi:type="dcterms:W3CDTF">2026-07-05T21:32:45Z</dcterms:created>
  <dcterms:modified xsi:type="dcterms:W3CDTF">2026-07-05T21:37:23Z</dcterms:modified>
</cp:coreProperties>
</file>